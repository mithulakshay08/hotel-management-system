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6"/>
    <p:sldId id="258" r:id="rId5"/>
    <p:sldId id="259" r:id="rId4"/>
    <p:sldId id="260" r:id="rId3"/>
    <p:sldId id="261" r:id="rId2"/>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27991-2F07-4F96-B1C6-107263F3CE80}" v="2" dt="2026-10-13T10:55:36.1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wathy Sreekumar - [CEN - ASAI]" userId="b3c1aa58-c106-4f88-88ea-3055d21dc445" providerId="ADAL" clId="{5B164AC5-E01D-4441-90D0-4360FBA49630}"/>
    <pc:docChg chg="addSld delSld modSld">
      <pc:chgData name="Aswathy Sreekumar - [CEN - ASAI]" userId="b3c1aa58-c106-4f88-88ea-3055d21dc445" providerId="ADAL" clId="{5B164AC5-E01D-4441-90D0-4360FBA49630}" dt="2026-10-13T11:08:54.286" v="58" actId="14100"/>
      <pc:docMkLst>
        <pc:docMk/>
      </pc:docMkLst>
      <pc:sldChg chg="addSp modSp mod">
        <pc:chgData name="Aswathy Sreekumar - [CEN - ASAI]" userId="b3c1aa58-c106-4f88-88ea-3055d21dc445" providerId="ADAL" clId="{5B164AC5-E01D-4441-90D0-4360FBA49630}" dt="2026-10-13T10:52:49.730" v="30" actId="14100"/>
        <pc:sldMkLst>
          <pc:docMk/>
          <pc:sldMk cId="3292820169" sldId="257"/>
        </pc:sldMkLst>
        <pc:graphicFrameChg chg="add mod modGraphic">
          <ac:chgData name="Aswathy Sreekumar - [CEN - ASAI]" userId="b3c1aa58-c106-4f88-88ea-3055d21dc445" providerId="ADAL" clId="{5B164AC5-E01D-4441-90D0-4360FBA49630}" dt="2026-10-13T10:52:49.730" v="30" actId="14100"/>
          <ac:graphicFrameMkLst>
            <pc:docMk/>
            <pc:sldMk cId="3292820169" sldId="257"/>
            <ac:graphicFrameMk id="2" creationId="{DEE1715A-84A1-A11F-4C84-5112CD8BD376}"/>
          </ac:graphicFrameMkLst>
        </pc:graphicFrameChg>
      </pc:sldChg>
      <pc:sldChg chg="del">
        <pc:chgData name="Aswathy Sreekumar - [CEN - ASAI]" userId="b3c1aa58-c106-4f88-88ea-3055d21dc445" providerId="ADAL" clId="{5B164AC5-E01D-4441-90D0-4360FBA49630}" dt="2026-10-13T10:52:52.147" v="31" actId="47"/>
        <pc:sldMkLst>
          <pc:docMk/>
          <pc:sldMk cId="2876923024" sldId="258"/>
        </pc:sldMkLst>
      </pc:sldChg>
      <pc:sldChg chg="del">
        <pc:chgData name="Aswathy Sreekumar - [CEN - ASAI]" userId="b3c1aa58-c106-4f88-88ea-3055d21dc445" providerId="ADAL" clId="{5B164AC5-E01D-4441-90D0-4360FBA49630}" dt="2026-10-13T10:52:56.399" v="32" actId="47"/>
        <pc:sldMkLst>
          <pc:docMk/>
          <pc:sldMk cId="2029237179" sldId="259"/>
        </pc:sldMkLst>
      </pc:sldChg>
      <pc:sldChg chg="modSp mod">
        <pc:chgData name="Aswathy Sreekumar - [CEN - ASAI]" userId="b3c1aa58-c106-4f88-88ea-3055d21dc445" providerId="ADAL" clId="{5B164AC5-E01D-4441-90D0-4360FBA49630}" dt="2026-10-13T10:55:46.990" v="37" actId="2710"/>
        <pc:sldMkLst>
          <pc:docMk/>
          <pc:sldMk cId="1850165588" sldId="261"/>
        </pc:sldMkLst>
        <pc:spChg chg="mod">
          <ac:chgData name="Aswathy Sreekumar - [CEN - ASAI]" userId="b3c1aa58-c106-4f88-88ea-3055d21dc445" providerId="ADAL" clId="{5B164AC5-E01D-4441-90D0-4360FBA49630}" dt="2026-10-13T10:55:46.990" v="37" actId="2710"/>
          <ac:spMkLst>
            <pc:docMk/>
            <pc:sldMk cId="1850165588" sldId="261"/>
            <ac:spMk id="3" creationId="{A531F2BE-E9BB-CFA7-4CF2-F8DBEAF88D73}"/>
          </ac:spMkLst>
        </pc:spChg>
      </pc:sldChg>
      <pc:sldChg chg="del">
        <pc:chgData name="Aswathy Sreekumar - [CEN - ASAI]" userId="b3c1aa58-c106-4f88-88ea-3055d21dc445" providerId="ADAL" clId="{5B164AC5-E01D-4441-90D0-4360FBA49630}" dt="2026-10-13T10:55:50.019" v="38" actId="47"/>
        <pc:sldMkLst>
          <pc:docMk/>
          <pc:sldMk cId="1856641003" sldId="262"/>
        </pc:sldMkLst>
      </pc:sldChg>
      <pc:sldChg chg="del">
        <pc:chgData name="Aswathy Sreekumar - [CEN - ASAI]" userId="b3c1aa58-c106-4f88-88ea-3055d21dc445" providerId="ADAL" clId="{5B164AC5-E01D-4441-90D0-4360FBA49630}" dt="2026-10-13T10:55:52.552" v="39" actId="47"/>
        <pc:sldMkLst>
          <pc:docMk/>
          <pc:sldMk cId="3504888759" sldId="263"/>
        </pc:sldMkLst>
      </pc:sldChg>
      <pc:sldChg chg="del">
        <pc:chgData name="Aswathy Sreekumar - [CEN - ASAI]" userId="b3c1aa58-c106-4f88-88ea-3055d21dc445" providerId="ADAL" clId="{5B164AC5-E01D-4441-90D0-4360FBA49630}" dt="2026-10-13T10:56:47.088" v="40" actId="47"/>
        <pc:sldMkLst>
          <pc:docMk/>
          <pc:sldMk cId="3342667635" sldId="264"/>
        </pc:sldMkLst>
      </pc:sldChg>
      <pc:sldChg chg="del">
        <pc:chgData name="Aswathy Sreekumar - [CEN - ASAI]" userId="b3c1aa58-c106-4f88-88ea-3055d21dc445" providerId="ADAL" clId="{5B164AC5-E01D-4441-90D0-4360FBA49630}" dt="2026-10-13T10:56:49.988" v="41" actId="47"/>
        <pc:sldMkLst>
          <pc:docMk/>
          <pc:sldMk cId="3530030300" sldId="265"/>
        </pc:sldMkLst>
      </pc:sldChg>
      <pc:sldChg chg="modSp mod">
        <pc:chgData name="Aswathy Sreekumar - [CEN - ASAI]" userId="b3c1aa58-c106-4f88-88ea-3055d21dc445" providerId="ADAL" clId="{5B164AC5-E01D-4441-90D0-4360FBA49630}" dt="2026-10-13T10:57:35.144" v="49" actId="20577"/>
        <pc:sldMkLst>
          <pc:docMk/>
          <pc:sldMk cId="230239099" sldId="266"/>
        </pc:sldMkLst>
        <pc:spChg chg="mod">
          <ac:chgData name="Aswathy Sreekumar - [CEN - ASAI]" userId="b3c1aa58-c106-4f88-88ea-3055d21dc445" providerId="ADAL" clId="{5B164AC5-E01D-4441-90D0-4360FBA49630}" dt="2026-10-13T10:57:35.144" v="49" actId="20577"/>
          <ac:spMkLst>
            <pc:docMk/>
            <pc:sldMk cId="230239099" sldId="266"/>
            <ac:spMk id="3" creationId="{5F458A85-15CC-54E5-F079-FE1181C8F397}"/>
          </ac:spMkLst>
        </pc:spChg>
      </pc:sldChg>
      <pc:sldChg chg="del">
        <pc:chgData name="Aswathy Sreekumar - [CEN - ASAI]" userId="b3c1aa58-c106-4f88-88ea-3055d21dc445" providerId="ADAL" clId="{5B164AC5-E01D-4441-90D0-4360FBA49630}" dt="2026-10-13T10:56:55.044" v="42" actId="47"/>
        <pc:sldMkLst>
          <pc:docMk/>
          <pc:sldMk cId="3320080006" sldId="267"/>
        </pc:sldMkLst>
      </pc:sldChg>
      <pc:sldChg chg="addSp modSp new mod">
        <pc:chgData name="Aswathy Sreekumar - [CEN - ASAI]" userId="b3c1aa58-c106-4f88-88ea-3055d21dc445" providerId="ADAL" clId="{5B164AC5-E01D-4441-90D0-4360FBA49630}" dt="2026-10-13T11:08:54.286" v="58" actId="14100"/>
        <pc:sldMkLst>
          <pc:docMk/>
          <pc:sldMk cId="527201399" sldId="269"/>
        </pc:sldMkLst>
        <pc:spChg chg="add mod">
          <ac:chgData name="Aswathy Sreekumar - [CEN - ASAI]" userId="b3c1aa58-c106-4f88-88ea-3055d21dc445" providerId="ADAL" clId="{5B164AC5-E01D-4441-90D0-4360FBA49630}" dt="2026-10-13T11:08:54.286" v="58" actId="14100"/>
          <ac:spMkLst>
            <pc:docMk/>
            <pc:sldMk cId="527201399" sldId="269"/>
            <ac:spMk id="3" creationId="{2678BFD2-E2FE-42D3-F25D-424B4D75D7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project: a Hotel Management System built on MySQL with a Python (Tkinter) desktop front end. Roughly 10 minutes: problem, design, normalization, SQL features, live demo,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registers cause four concrete failures: double booking, wrong bills, slow lookup, and no overall view. Our six objectives map one-to-one to these failures and to the DBMS concepts the course covers.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Admin has all twelve use cases, Receptionist has login plus the eight operational ones. Be honest if asked: role-based tab locking and a staff-accounts screen are not built yet (add_user exists in database.py).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diagram left to right: ROOM_TYPE classifies ROOM, ROOM is reserved in BOOKING, GUEST makes BOOKING, BOOKING is settled by PAYMENT. All four relationships are one-to-many so no junction table is needed. PAYMENT is a strong entity with its own key payment_id.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table has an auto-increment surrogate primary key; natural keys (phone, room number, username, ID document) are enforced with UNIQUE. Foreign keys: ROOMS to ROOM_TYPES (RESTRICT), BOOKINGS to GUESTS (CASCADE) and ROOMS (RESTRICT), PAYMENTS to BOOKINGS (CASCADE).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simply: in every table the only things that determine other columns are the primary key and the UNIQUE columns. Those are candidate keys, so BCNF holds, and BCNF implies 3NF. The price lives in ROOM_TYPES, not ROOMS, which removed the transitive dependency. PAYMENTS.amount is stored deliberately as a historical fact, and ROOMS.status is kept consistent by triggers.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argument: the price lives in ROOM_TYPES, not ROOMS, which removes the transitive dependency. Candidate keys are the primary key plus UNIQUE columns, so every determinant is a candidate key and the schema is in BCNF.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to show live: the NOT IN overlap subquery (this is what Find Available Rooms runs) and the GROUP BY / HAVING revenue query. All eleven documented queries are in database/advanced_queries.sql and every one was run on the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link every feature of the app back to a syllabus concept. The trigger row refers to the three booking triggers that call sp_refresh_room_status.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separation is the design point: the GUI never writes SQL; database.py holds every query with placeholders (no SQL injection); the database enforces integrity.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 total rooms, available rooms, registered guests, active bookings, revenue collected, payments pending. Each card is its own aggregate query against the live database.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Find Available Rooms (NOT IN subquery), book a room, try the same room again (blocked), Check-In then Check-Out and watch the Rooms tab 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booking, press Auto-Calculate Bill, choose the method and Add. The stored amount records what was actually paid.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reports: Room Availability by Type, Revenue by Payment Method, Guest Booking Summary, Pending Payments.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what is not done: role enforcement, staff screen, application-level transactions. These are the natural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Keep the app open on the Bookings tab for any live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A6C0A-D5F6-AB81-43DE-88E9948F81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5798CE-68E1-C89D-543E-21144CB6AA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0A8C6B-94F0-6EB8-00CA-1AAF8056A3EF}"/>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E437C2EB-9B31-B6C1-7DF5-BC6608AF8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BE46B-1FFD-0D1B-754D-66129868B278}"/>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395535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7AFD-7C6E-33E4-005C-A2B49F3F4D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612FE6-0B5A-5A6B-2F98-4D5EAA938C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AC422-3DDB-9425-FF66-CE063865CB81}"/>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2677F005-93CD-1800-7E05-A2096CA9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FC26F3-89BA-AD1B-A191-FE9F0BD88EC1}"/>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3727434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5075-0E8C-A298-A19D-96666BBDC5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B7DBAC-4D36-DF50-F656-F8BA143B26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086904-A66D-A215-6CCE-37E1BFABBB0E}"/>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A176B1C4-EF4A-E5FC-E105-1C90C79FD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B5BD5-D765-54F9-A68E-950231988BCF}"/>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418695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BD904-F9D5-9296-AD75-599101997A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DB9CB8-4884-904C-29DC-A2984C303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8EBB23-0455-90E3-86B1-8504D39E19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0D8CF1-1C06-74FA-066B-86EEDDC61CBD}"/>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6" name="Footer Placeholder 5">
            <a:extLst>
              <a:ext uri="{FF2B5EF4-FFF2-40B4-BE49-F238E27FC236}">
                <a16:creationId xmlns:a16="http://schemas.microsoft.com/office/drawing/2014/main" id="{A32D8D3E-3672-4B30-2C42-D0AADE4A00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92943-30AF-1760-4EF5-93186F474175}"/>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294321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8F87-E42A-9FB7-04DF-1A3C5795EB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A72D96-6B4D-5DDA-6497-5DFD815C6C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5AE828-D48F-3C4C-83C9-2E90069F61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3FF6C5-0D8D-EBCA-7374-551158E97C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A7F956-F667-0B2A-11D3-9F8EA6E7D1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2E9B30-CDE1-A131-B618-CFD28954ED47}"/>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8" name="Footer Placeholder 7">
            <a:extLst>
              <a:ext uri="{FF2B5EF4-FFF2-40B4-BE49-F238E27FC236}">
                <a16:creationId xmlns:a16="http://schemas.microsoft.com/office/drawing/2014/main" id="{7F37441B-8946-282F-3058-BC87BF03EA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835438-20C4-ABC4-2880-2AABD58E3394}"/>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2796104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DDEAC-A027-AF39-3138-89EA5D8801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986F5D-7A5A-CB14-BE77-6C18BACB296D}"/>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4" name="Footer Placeholder 3">
            <a:extLst>
              <a:ext uri="{FF2B5EF4-FFF2-40B4-BE49-F238E27FC236}">
                <a16:creationId xmlns:a16="http://schemas.microsoft.com/office/drawing/2014/main" id="{B1B6E95D-06CE-31FF-B34D-5C98D22BF5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EAFD1F-CB87-9D33-533B-CC30827AEB19}"/>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3480878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6416EE-A675-3080-0FA1-4A3031EDC15F}"/>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3" name="Footer Placeholder 2">
            <a:extLst>
              <a:ext uri="{FF2B5EF4-FFF2-40B4-BE49-F238E27FC236}">
                <a16:creationId xmlns:a16="http://schemas.microsoft.com/office/drawing/2014/main" id="{51167CF6-E5EA-BEC9-27D5-4F6D7BC4A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31FDC9-D9D0-F959-462A-00663242F877}"/>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632004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2EBF6-914D-9CBA-6500-D8C1A6D70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24105D-214B-F383-55A7-30C31F1884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C6461D-C330-00FA-0BC7-9D5373AE0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25CD7-5C77-9AA3-7CA3-8A587615CDA6}"/>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6" name="Footer Placeholder 5">
            <a:extLst>
              <a:ext uri="{FF2B5EF4-FFF2-40B4-BE49-F238E27FC236}">
                <a16:creationId xmlns:a16="http://schemas.microsoft.com/office/drawing/2014/main" id="{428FDDAA-BB5C-C923-332D-2A2768B2A6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97C015-4541-998F-7137-92450FC4A9BD}"/>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264945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BB277-98C0-4BA1-B07D-433FD8BF4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8C8283-DEB5-F117-47A9-21B2D19493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C3F843-2C90-F839-62E5-D10BC0AA7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41E60C-B262-9AA4-5511-F7F10711424C}"/>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6" name="Footer Placeholder 5">
            <a:extLst>
              <a:ext uri="{FF2B5EF4-FFF2-40B4-BE49-F238E27FC236}">
                <a16:creationId xmlns:a16="http://schemas.microsoft.com/office/drawing/2014/main" id="{1698B2B4-6062-530C-6B8D-0B7D237CB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24B56-B061-58AF-E81D-B809E019457D}"/>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2424935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4F4BC-331C-555A-D19B-E6B6FCA31D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AC5D4-9EEB-A2BE-B5FA-4069D13EC7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1B4AEE-4C08-0ECB-CEC0-7A29D61CAFCB}"/>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55947458-6AE5-FC47-5752-D8CBD80AF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76DE2-23C5-A411-A333-842F8BA70746}"/>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305502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E672DC-4291-6EDB-2532-571B7671A4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04DF8F-7692-6D41-B9E5-66BA5AAD8D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1AEEDA-96A5-99A1-CFC1-4F4770CAA775}"/>
              </a:ext>
            </a:extLst>
          </p:cNvPr>
          <p:cNvSpPr>
            <a:spLocks noGrp="1"/>
          </p:cNvSpPr>
          <p:nvPr>
            <p:ph type="dt" sz="half" idx="10"/>
          </p:nvPr>
        </p:nvSpPr>
        <p:spPr/>
        <p:txBody>
          <a:body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B0D04064-98BD-B23A-F794-8E172868FD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3E548B-D108-816E-4957-A79163B28AB5}"/>
              </a:ext>
            </a:extLst>
          </p:cNvPr>
          <p:cNvSpPr>
            <a:spLocks noGrp="1"/>
          </p:cNvSpPr>
          <p:nvPr>
            <p:ph type="sldNum" sz="quarter" idx="12"/>
          </p:nvPr>
        </p:nvSpPr>
        <p:spPr/>
        <p:txBody>
          <a:bodyPr/>
          <a:lstStyle/>
          <a:p>
            <a:fld id="{54899440-1C3D-44FF-9D87-638639B66AB1}" type="slidenum">
              <a:rPr lang="en-US" smtClean="0"/>
              <a:t>‹#›</a:t>
            </a:fld>
            <a:endParaRPr lang="en-US"/>
          </a:p>
        </p:txBody>
      </p:sp>
    </p:spTree>
    <p:extLst>
      <p:ext uri="{BB962C8B-B14F-4D97-AF65-F5344CB8AC3E}">
        <p14:creationId xmlns:p14="http://schemas.microsoft.com/office/powerpoint/2010/main" val="1563246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ED3ED1-0D56-C0D2-9F13-F1C2B5AF9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51F9D-A8BF-931E-3CD9-349C0CAB7D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9E098-36DB-F2D4-A2EB-B0E2388C7B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1C5F1D-ACC1-485E-993F-679869D1C13D}" type="datetimeFigureOut">
              <a:rPr lang="en-US" smtClean="0"/>
              <a:t>10/13/2026</a:t>
            </a:fld>
            <a:endParaRPr lang="en-US"/>
          </a:p>
        </p:txBody>
      </p:sp>
      <p:sp>
        <p:nvSpPr>
          <p:cNvPr id="5" name="Footer Placeholder 4">
            <a:extLst>
              <a:ext uri="{FF2B5EF4-FFF2-40B4-BE49-F238E27FC236}">
                <a16:creationId xmlns:a16="http://schemas.microsoft.com/office/drawing/2014/main" id="{A6AD4334-980A-45D8-E18C-CAC89A936B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9761B6-9B05-D034-B51F-ED3D1F4EA4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99440-1C3D-44FF-9D87-638639B66AB1}" type="slidenum">
              <a:rPr lang="en-US" smtClean="0"/>
              <a:t>‹#›</a:t>
            </a:fld>
            <a:endParaRPr lang="en-US"/>
          </a:p>
        </p:txBody>
      </p:sp>
    </p:spTree>
    <p:extLst>
      <p:ext uri="{BB962C8B-B14F-4D97-AF65-F5344CB8AC3E}">
        <p14:creationId xmlns:p14="http://schemas.microsoft.com/office/powerpoint/2010/main" val="2604440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34F43"/>
        </a:solidFill>
        <a:effectLst/>
      </p:bgPr>
    </p:bg>
    <p:spTree>
      <p:nvGrpSpPr>
        <p:cNvPr id="1" name=""/>
        <p:cNvGrpSpPr/>
        <p:nvPr/>
      </p:nvGrpSpPr>
      <p:grpSpPr/>
      <p:sp>
        <p:nvSpPr>
          <p:cNvPr id="2" name="Title 1"/>
          <p:cNvSpPr>
            <a:spLocks noGrp="1"/>
          </p:cNvSpPr>
          <p:nvPr>
            <p:ph type="ctrTitle"/>
          </p:nvPr>
        </p:nvSpPr>
        <p:spPr>
          <a:xfrm>
            <a:off x="822960" y="822960"/>
            <a:ext cx="10515600" cy="2377440"/>
          </a:xfrm>
        </p:spPr>
        <p:txBody>
          <a:bodyPr wrap="square" anchor="b"/>
          <a:lstStyle/>
          <a:p>
            <a:pPr algn="l"/>
            <a:r>
              <a:rPr sz="5400" b="1">
                <a:solidFill>
                  <a:srgbClr val="FFFFFF"/>
                </a:solidFill>
                <a:latin typeface="Georgia"/>
              </a:rPr>
              <a:t>HOTEL MANAGEMENT SYSTEM</a:t>
            </a:r>
          </a:p>
        </p:txBody>
      </p:sp>
      <p:sp>
        <p:nvSpPr>
          <p:cNvPr id="3" name="Subtitle 2"/>
          <p:cNvSpPr>
            <a:spLocks noGrp="1"/>
          </p:cNvSpPr>
          <p:nvPr>
            <p:ph type="subTitle" idx="1"/>
          </p:nvPr>
        </p:nvSpPr>
        <p:spPr>
          <a:xfrm>
            <a:off x="822960" y="3429000"/>
            <a:ext cx="10515600" cy="548640"/>
          </a:xfrm>
        </p:spPr>
        <p:txBody>
          <a:bodyPr/>
          <a:lstStyle/>
          <a:p>
            <a:pPr algn="l"/>
            <a:r>
              <a:rPr sz="2200">
                <a:solidFill>
                  <a:srgbClr val="A3B18A"/>
                </a:solidFill>
                <a:latin typeface="Calibri"/>
              </a:rPr>
              <a:t>22AIE303  ·  Database Management Systems  ·  Final Project Review</a:t>
            </a:r>
          </a:p>
        </p:txBody>
      </p:sp>
      <p:sp>
        <p:nvSpPr>
          <p:cNvPr id="4" name="Rectangle 3"/>
          <p:cNvSpPr/>
          <p:nvPr/>
        </p:nvSpPr>
        <p:spPr>
          <a:xfrm>
            <a:off x="868680" y="3310128"/>
            <a:ext cx="146304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4343400"/>
            <a:ext cx="4572000" cy="457200"/>
          </a:xfrm>
          <a:prstGeom prst="rect">
            <a:avLst/>
          </a:prstGeom>
          <a:noFill/>
        </p:spPr>
        <p:txBody>
          <a:bodyPr wrap="square" anchor="t" lIns="45720" rIns="45720" tIns="27432" bIns="27432">
            <a:spAutoFit/>
          </a:bodyPr>
          <a:lstStyle/>
          <a:p>
            <a:pPr algn="l">
              <a:lnSpc>
                <a:spcPct val="100000"/>
              </a:lnSpc>
              <a:spcAft>
                <a:spcPts val="600"/>
              </a:spcAft>
            </a:pPr>
            <a:r>
              <a:rPr sz="2000" b="1">
                <a:solidFill>
                  <a:srgbClr val="C8A165"/>
                </a:solidFill>
                <a:latin typeface="Calibri"/>
              </a:rPr>
              <a:t>TEAM NUMBER : 03</a:t>
            </a:r>
          </a:p>
        </p:txBody>
      </p:sp>
      <p:sp>
        <p:nvSpPr>
          <p:cNvPr id="6" name="TextBox 5"/>
          <p:cNvSpPr txBox="1"/>
          <p:nvPr/>
        </p:nvSpPr>
        <p:spPr>
          <a:xfrm>
            <a:off x="822960" y="4846320"/>
            <a:ext cx="10058400" cy="1463040"/>
          </a:xfrm>
          <a:prstGeom prst="rect">
            <a:avLst/>
          </a:prstGeom>
          <a:noFill/>
        </p:spPr>
        <p:txBody>
          <a:bodyPr wrap="square" anchor="t" lIns="45720" rIns="45720" tIns="27432" bIns="27432">
            <a:spAutoFit/>
          </a:bodyPr>
          <a:lstStyle/>
          <a:p>
            <a:pPr algn="l">
              <a:lnSpc>
                <a:spcPct val="100000"/>
              </a:lnSpc>
              <a:spcAft>
                <a:spcPts val="300"/>
              </a:spcAft>
            </a:pPr>
            <a:r>
              <a:rPr sz="1800" b="0">
                <a:solidFill>
                  <a:srgbClr val="FFFFFF"/>
                </a:solidFill>
                <a:latin typeface="Calibri"/>
              </a:rPr>
              <a:t>CB.SC.U4AIE24116  –  J. Lakshmi Tejaswi</a:t>
            </a:r>
          </a:p>
          <a:p>
            <a:pPr algn="l">
              <a:lnSpc>
                <a:spcPct val="100000"/>
              </a:lnSpc>
              <a:spcAft>
                <a:spcPts val="300"/>
              </a:spcAft>
            </a:pPr>
            <a:r>
              <a:rPr sz="1800" b="0">
                <a:solidFill>
                  <a:srgbClr val="FFFFFF"/>
                </a:solidFill>
                <a:latin typeface="Calibri"/>
              </a:rPr>
              <a:t>CB.SC.U4AIE24130  –  Vishnu Teja</a:t>
            </a:r>
          </a:p>
          <a:p>
            <a:pPr algn="l">
              <a:lnSpc>
                <a:spcPct val="100000"/>
              </a:lnSpc>
              <a:spcAft>
                <a:spcPts val="300"/>
              </a:spcAft>
            </a:pPr>
            <a:r>
              <a:rPr sz="1800" b="0">
                <a:solidFill>
                  <a:srgbClr val="FFFFFF"/>
                </a:solidFill>
                <a:latin typeface="Calibri"/>
              </a:rPr>
              <a:t>CB.SC.U4AIE24135  –  Mithul Akshay</a:t>
            </a:r>
          </a:p>
          <a:p>
            <a:pPr algn="l">
              <a:lnSpc>
                <a:spcPct val="100000"/>
              </a:lnSpc>
              <a:spcAft>
                <a:spcPts val="300"/>
              </a:spcAft>
            </a:pPr>
            <a:r>
              <a:rPr sz="1800" b="0">
                <a:solidFill>
                  <a:srgbClr val="FFFFFF"/>
                </a:solidFill>
                <a:latin typeface="Calibri"/>
              </a:rPr>
              <a:t>CB.SC.U4AIE24136  –  Mohan Innani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Problem Statement &amp; Objectives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2</a:t>
            </a:r>
          </a:p>
        </p:txBody>
      </p:sp>
      <p:sp>
        <p:nvSpPr>
          <p:cNvPr id="7" name="Rounded Rectangle 6"/>
          <p:cNvSpPr/>
          <p:nvPr/>
        </p:nvSpPr>
        <p:spPr>
          <a:xfrm>
            <a:off x="548640" y="1371600"/>
            <a:ext cx="5486400" cy="489204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371600"/>
            <a:ext cx="5486400" cy="502920"/>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389888"/>
            <a:ext cx="5120640" cy="45720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THE PROBLEM</a:t>
            </a:r>
          </a:p>
        </p:txBody>
      </p:sp>
      <p:sp>
        <p:nvSpPr>
          <p:cNvPr id="10" name="TextBox 9"/>
          <p:cNvSpPr txBox="1"/>
          <p:nvPr/>
        </p:nvSpPr>
        <p:spPr>
          <a:xfrm>
            <a:off x="731520" y="2011680"/>
            <a:ext cx="5166360" cy="4206240"/>
          </a:xfrm>
          <a:prstGeom prst="rect">
            <a:avLst/>
          </a:prstGeom>
          <a:noFill/>
        </p:spPr>
        <p:txBody>
          <a:bodyPr wrap="square" anchor="t" lIns="45720" rIns="45720" tIns="27432" bIns="27432">
            <a:spAutoFit/>
          </a:bodyPr>
          <a:lstStyle/>
          <a:p>
            <a:pPr algn="l" marL="201168" indent="-201168">
              <a:lnSpc>
                <a:spcPct val="100000"/>
              </a:lnSpc>
              <a:spcAft>
                <a:spcPts val="1100"/>
              </a:spcAft>
              <a:buChar char="•"/>
            </a:pPr>
            <a:r>
              <a:rPr b="1" sz="1700">
                <a:solidFill>
                  <a:srgbClr val="22303F"/>
                </a:solidFill>
                <a:latin typeface="Calibri"/>
              </a:rPr>
              <a:t>Manual registers</a:t>
            </a:r>
            <a:r>
              <a:rPr sz="1700">
                <a:solidFill>
                  <a:srgbClr val="22303F"/>
                </a:solidFill>
                <a:latin typeface="Calibri"/>
              </a:rPr>
              <a:t>  – guest, room and booking details sit in paper registers: slow to update and easy to lose.</a:t>
            </a:r>
          </a:p>
          <a:p>
            <a:pPr algn="l" marL="201168" indent="-201168">
              <a:lnSpc>
                <a:spcPct val="100000"/>
              </a:lnSpc>
              <a:spcAft>
                <a:spcPts val="1100"/>
              </a:spcAft>
              <a:buChar char="•"/>
            </a:pPr>
            <a:r>
              <a:rPr b="1" sz="1700">
                <a:solidFill>
                  <a:srgbClr val="22303F"/>
                </a:solidFill>
                <a:latin typeface="Calibri"/>
              </a:rPr>
              <a:t>Double booking</a:t>
            </a:r>
            <a:r>
              <a:rPr sz="1700">
                <a:solidFill>
                  <a:srgbClr val="22303F"/>
                </a:solidFill>
                <a:latin typeface="Calibri"/>
              </a:rPr>
              <a:t>  – with no central occupancy record, one room gets promised to two guests.</a:t>
            </a:r>
          </a:p>
          <a:p>
            <a:pPr algn="l" marL="201168" indent="-201168">
              <a:lnSpc>
                <a:spcPct val="100000"/>
              </a:lnSpc>
              <a:spcAft>
                <a:spcPts val="1100"/>
              </a:spcAft>
              <a:buChar char="•"/>
            </a:pPr>
            <a:r>
              <a:rPr b="1" sz="1700">
                <a:solidFill>
                  <a:srgbClr val="22303F"/>
                </a:solidFill>
                <a:latin typeface="Calibri"/>
              </a:rPr>
              <a:t>Billing errors</a:t>
            </a:r>
            <a:r>
              <a:rPr sz="1700">
                <a:solidFill>
                  <a:srgbClr val="22303F"/>
                </a:solidFill>
                <a:latin typeface="Calibri"/>
              </a:rPr>
              <a:t>  – rate × nights is worked out by hand, so totals are wrong or disputed.</a:t>
            </a:r>
          </a:p>
          <a:p>
            <a:pPr algn="l" marL="201168" indent="-201168">
              <a:lnSpc>
                <a:spcPct val="100000"/>
              </a:lnSpc>
              <a:spcAft>
                <a:spcPts val="1100"/>
              </a:spcAft>
              <a:buChar char="•"/>
            </a:pPr>
            <a:r>
              <a:rPr b="1" sz="1700">
                <a:solidFill>
                  <a:srgbClr val="22303F"/>
                </a:solidFill>
                <a:latin typeface="Calibri"/>
              </a:rPr>
              <a:t>Slow retrieval &amp; redundancy</a:t>
            </a:r>
            <a:r>
              <a:rPr sz="1700">
                <a:solidFill>
                  <a:srgbClr val="22303F"/>
                </a:solidFill>
                <a:latin typeface="Calibri"/>
              </a:rPr>
              <a:t>  – finding one guest’s history means paging through records; repeat guests are re-entered and drift apart.</a:t>
            </a:r>
          </a:p>
          <a:p>
            <a:pPr algn="l" marL="201168" indent="-201168">
              <a:lnSpc>
                <a:spcPct val="100000"/>
              </a:lnSpc>
              <a:spcAft>
                <a:spcPts val="1100"/>
              </a:spcAft>
              <a:buChar char="•"/>
            </a:pPr>
            <a:r>
              <a:rPr b="1" sz="1700">
                <a:solidFill>
                  <a:srgbClr val="22303F"/>
                </a:solidFill>
                <a:latin typeface="Calibri"/>
              </a:rPr>
              <a:t>No consolidated view</a:t>
            </a:r>
            <a:r>
              <a:rPr sz="1700">
                <a:solidFill>
                  <a:srgbClr val="22303F"/>
                </a:solidFill>
                <a:latin typeface="Calibri"/>
              </a:rPr>
              <a:t>  – occupancy, revenue and pending dues have to be compiled manually.</a:t>
            </a:r>
          </a:p>
        </p:txBody>
      </p:sp>
      <p:sp>
        <p:nvSpPr>
          <p:cNvPr id="11" name="Rounded Rectangle 10"/>
          <p:cNvSpPr/>
          <p:nvPr/>
        </p:nvSpPr>
        <p:spPr>
          <a:xfrm>
            <a:off x="6309360" y="1371600"/>
            <a:ext cx="5349240" cy="489204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309360" y="1371600"/>
            <a:ext cx="5349240" cy="5029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1389888"/>
            <a:ext cx="4937760" cy="45720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OBJECTIVES</a:t>
            </a:r>
          </a:p>
        </p:txBody>
      </p:sp>
      <p:sp>
        <p:nvSpPr>
          <p:cNvPr id="14" name="Rounded Rectangle 13"/>
          <p:cNvSpPr/>
          <p:nvPr/>
        </p:nvSpPr>
        <p:spPr>
          <a:xfrm>
            <a:off x="6492240" y="20574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92240" y="20574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01</a:t>
            </a:r>
          </a:p>
        </p:txBody>
      </p:sp>
      <p:sp>
        <p:nvSpPr>
          <p:cNvPr id="16" name="TextBox 15"/>
          <p:cNvSpPr txBox="1"/>
          <p:nvPr/>
        </p:nvSpPr>
        <p:spPr>
          <a:xfrm>
            <a:off x="7132320" y="20391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Centralised database designed in 3NF – 6 tables in MySQL</a:t>
            </a:r>
          </a:p>
        </p:txBody>
      </p:sp>
      <p:sp>
        <p:nvSpPr>
          <p:cNvPr id="17" name="Rounded Rectangle 16"/>
          <p:cNvSpPr/>
          <p:nvPr/>
        </p:nvSpPr>
        <p:spPr>
          <a:xfrm>
            <a:off x="6492240" y="27432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27432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02</a:t>
            </a:r>
          </a:p>
        </p:txBody>
      </p:sp>
      <p:sp>
        <p:nvSpPr>
          <p:cNvPr id="19" name="TextBox 18"/>
          <p:cNvSpPr txBox="1"/>
          <p:nvPr/>
        </p:nvSpPr>
        <p:spPr>
          <a:xfrm>
            <a:off x="7132320" y="27249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Full CRUD on every entity through a Python GUI, no SQL typed by the user</a:t>
            </a:r>
          </a:p>
        </p:txBody>
      </p:sp>
      <p:sp>
        <p:nvSpPr>
          <p:cNvPr id="20" name="Rounded Rectangle 19"/>
          <p:cNvSpPr/>
          <p:nvPr/>
        </p:nvSpPr>
        <p:spPr>
          <a:xfrm>
            <a:off x="6492240" y="34290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92240" y="34290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03</a:t>
            </a:r>
          </a:p>
        </p:txBody>
      </p:sp>
      <p:sp>
        <p:nvSpPr>
          <p:cNvPr id="22" name="TextBox 21"/>
          <p:cNvSpPr txBox="1"/>
          <p:nvPr/>
        </p:nvSpPr>
        <p:spPr>
          <a:xfrm>
            <a:off x="7132320" y="34107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Prevent invalid bookings – date-overlap check and CHECK constraints</a:t>
            </a:r>
          </a:p>
        </p:txBody>
      </p:sp>
      <p:sp>
        <p:nvSpPr>
          <p:cNvPr id="23" name="Rounded Rectangle 22"/>
          <p:cNvSpPr/>
          <p:nvPr/>
        </p:nvSpPr>
        <p:spPr>
          <a:xfrm>
            <a:off x="6492240" y="41148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41148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04</a:t>
            </a:r>
          </a:p>
        </p:txBody>
      </p:sp>
      <p:sp>
        <p:nvSpPr>
          <p:cNvPr id="25" name="TextBox 24"/>
          <p:cNvSpPr txBox="1"/>
          <p:nvPr/>
        </p:nvSpPr>
        <p:spPr>
          <a:xfrm>
            <a:off x="7132320" y="40965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Automate billing – nights × price per night using a SQL join</a:t>
            </a:r>
          </a:p>
        </p:txBody>
      </p:sp>
      <p:sp>
        <p:nvSpPr>
          <p:cNvPr id="26" name="Rounded Rectangle 25"/>
          <p:cNvSpPr/>
          <p:nvPr/>
        </p:nvSpPr>
        <p:spPr>
          <a:xfrm>
            <a:off x="6492240" y="48006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92240" y="48006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05</a:t>
            </a:r>
          </a:p>
        </p:txBody>
      </p:sp>
      <p:sp>
        <p:nvSpPr>
          <p:cNvPr id="28" name="TextBox 27"/>
          <p:cNvSpPr txBox="1"/>
          <p:nvPr/>
        </p:nvSpPr>
        <p:spPr>
          <a:xfrm>
            <a:off x="7132320" y="47823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Enforce integrity inside the database – PK, FK, UNIQUE, CHECK, ENUM, triggers</a:t>
            </a:r>
          </a:p>
        </p:txBody>
      </p:sp>
      <p:sp>
        <p:nvSpPr>
          <p:cNvPr id="29" name="Rounded Rectangle 28"/>
          <p:cNvSpPr/>
          <p:nvPr/>
        </p:nvSpPr>
        <p:spPr>
          <a:xfrm>
            <a:off x="6492240" y="5486400"/>
            <a:ext cx="502920" cy="502920"/>
          </a:xfrm>
          <a:prstGeom prst="roundRect">
            <a:avLst>
              <a:gd name="adj" fmla="val 15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92240" y="5486400"/>
            <a:ext cx="502920" cy="502920"/>
          </a:xfrm>
          <a:prstGeom prst="rect">
            <a:avLst/>
          </a:prstGeom>
          <a:noFill/>
        </p:spPr>
        <p:txBody>
          <a:bodyPr wrap="square" anchor="ctr" lIns="45720" rIns="45720" tIns="27432" bIns="27432">
            <a:spAutoFit/>
          </a:bodyPr>
          <a:lstStyle/>
          <a:p>
            <a:pPr algn="ctr">
              <a:lnSpc>
                <a:spcPct val="100000"/>
              </a:lnSpc>
              <a:spcAft>
                <a:spcPts val="600"/>
              </a:spcAft>
            </a:pPr>
            <a:r>
              <a:rPr sz="1400" b="1">
                <a:solidFill>
                  <a:srgbClr val="FFFFFF"/>
                </a:solidFill>
                <a:latin typeface="Calibri"/>
              </a:rPr>
              <a:t>06</a:t>
            </a:r>
          </a:p>
        </p:txBody>
      </p:sp>
      <p:sp>
        <p:nvSpPr>
          <p:cNvPr id="31" name="TextBox 30"/>
          <p:cNvSpPr txBox="1"/>
          <p:nvPr/>
        </p:nvSpPr>
        <p:spPr>
          <a:xfrm>
            <a:off x="7132320" y="5468112"/>
            <a:ext cx="4434840" cy="594360"/>
          </a:xfrm>
          <a:prstGeom prst="rect">
            <a:avLst/>
          </a:prstGeom>
          <a:noFill/>
        </p:spPr>
        <p:txBody>
          <a:bodyPr wrap="square" anchor="ctr" lIns="45720" rIns="45720" tIns="27432" bIns="27432">
            <a:spAutoFit/>
          </a:bodyPr>
          <a:lstStyle/>
          <a:p>
            <a:pPr algn="l">
              <a:lnSpc>
                <a:spcPct val="100000"/>
              </a:lnSpc>
              <a:spcAft>
                <a:spcPts val="600"/>
              </a:spcAft>
            </a:pPr>
            <a:r>
              <a:rPr sz="1500" b="0">
                <a:solidFill>
                  <a:srgbClr val="22303F"/>
                </a:solidFill>
                <a:latin typeface="Calibri"/>
              </a:rPr>
              <a:t>Reports using aggregates, GROUP BY and HAVING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UML Use Case Diagram</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Twelve use cases, two actors</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3</a:t>
            </a:r>
          </a:p>
        </p:txBody>
      </p:sp>
      <p:sp>
        <p:nvSpPr>
          <p:cNvPr id="8" name="Rounded Rectangle 7"/>
          <p:cNvSpPr/>
          <p:nvPr/>
        </p:nvSpPr>
        <p:spPr>
          <a:xfrm>
            <a:off x="548640" y="1508760"/>
            <a:ext cx="3840480" cy="480060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_Case_Diagram.png"/>
          <p:cNvPicPr>
            <a:picLocks noChangeAspect="1"/>
          </p:cNvPicPr>
          <p:nvPr/>
        </p:nvPicPr>
        <p:blipFill>
          <a:blip r:embed="rId2"/>
          <a:stretch>
            <a:fillRect/>
          </a:stretch>
        </p:blipFill>
        <p:spPr>
          <a:xfrm>
            <a:off x="875498" y="1572768"/>
            <a:ext cx="3186763" cy="4663440"/>
          </a:xfrm>
          <a:prstGeom prst="rect">
            <a:avLst/>
          </a:prstGeom>
        </p:spPr>
      </p:pic>
      <p:sp>
        <p:nvSpPr>
          <p:cNvPr id="10" name="TextBox 9"/>
          <p:cNvSpPr txBox="1"/>
          <p:nvPr/>
        </p:nvSpPr>
        <p:spPr>
          <a:xfrm>
            <a:off x="4754880" y="1554480"/>
            <a:ext cx="6858000" cy="4754880"/>
          </a:xfrm>
          <a:prstGeom prst="rect">
            <a:avLst/>
          </a:prstGeom>
          <a:noFill/>
        </p:spPr>
        <p:txBody>
          <a:bodyPr wrap="square" anchor="t" lIns="45720" rIns="45720" tIns="27432" bIns="27432">
            <a:spAutoFit/>
          </a:bodyPr>
          <a:lstStyle/>
          <a:p>
            <a:pPr algn="l" marL="201168" indent="-201168">
              <a:lnSpc>
                <a:spcPct val="100000"/>
              </a:lnSpc>
              <a:spcAft>
                <a:spcPts val="1400"/>
              </a:spcAft>
              <a:buChar char="•"/>
            </a:pPr>
            <a:r>
              <a:rPr b="1" sz="1800">
                <a:solidFill>
                  <a:srgbClr val="22303F"/>
                </a:solidFill>
                <a:latin typeface="Calibri"/>
              </a:rPr>
              <a:t>Actors</a:t>
            </a:r>
            <a:r>
              <a:rPr sz="1800">
                <a:solidFill>
                  <a:srgbClr val="22303F"/>
                </a:solidFill>
                <a:latin typeface="Calibri"/>
              </a:rPr>
              <a:t>  – Admin and Receptionist. Both sign in through the same Login use case.</a:t>
            </a:r>
          </a:p>
          <a:p>
            <a:pPr algn="l" marL="201168" indent="-201168">
              <a:lnSpc>
                <a:spcPct val="100000"/>
              </a:lnSpc>
              <a:spcAft>
                <a:spcPts val="1400"/>
              </a:spcAft>
              <a:buChar char="•"/>
            </a:pPr>
            <a:r>
              <a:rPr b="1" sz="1800">
                <a:solidFill>
                  <a:srgbClr val="22303F"/>
                </a:solidFill>
                <a:latin typeface="Calibri"/>
              </a:rPr>
              <a:t>Admin only</a:t>
            </a:r>
            <a:r>
              <a:rPr sz="1800">
                <a:solidFill>
                  <a:srgbClr val="22303F"/>
                </a:solidFill>
                <a:latin typeface="Calibri"/>
              </a:rPr>
              <a:t>  – manage room types, rooms and staff accounts.</a:t>
            </a:r>
          </a:p>
          <a:p>
            <a:pPr algn="l" marL="201168" indent="-201168">
              <a:lnSpc>
                <a:spcPct val="100000"/>
              </a:lnSpc>
              <a:spcAft>
                <a:spcPts val="1400"/>
              </a:spcAft>
              <a:buChar char="•"/>
            </a:pPr>
            <a:r>
              <a:rPr b="1" sz="1800">
                <a:solidFill>
                  <a:srgbClr val="22303F"/>
                </a:solidFill>
                <a:latin typeface="Calibri"/>
              </a:rPr>
              <a:t>Shared</a:t>
            </a:r>
            <a:r>
              <a:rPr sz="1800">
                <a:solidFill>
                  <a:srgbClr val="22303F"/>
                </a:solidFill>
                <a:latin typeface="Calibri"/>
              </a:rPr>
              <a:t>  – register / manage guests, book a room, check availability, check-in / check-out, update or cancel a booking, record payment and generate bill, search records, generate reports.</a:t>
            </a:r>
          </a:p>
          <a:p>
            <a:pPr algn="l" marL="201168" indent="-201168">
              <a:lnSpc>
                <a:spcPct val="100000"/>
              </a:lnSpc>
              <a:spcAft>
                <a:spcPts val="1400"/>
              </a:spcAft>
              <a:buChar char="•"/>
            </a:pPr>
            <a:r>
              <a:rPr b="1" sz="1800">
                <a:solidFill>
                  <a:srgbClr val="22303F"/>
                </a:solidFill>
                <a:latin typeface="Calibri"/>
              </a:rPr>
              <a:t>System boundary</a:t>
            </a:r>
            <a:r>
              <a:rPr sz="1800">
                <a:solidFill>
                  <a:srgbClr val="22303F"/>
                </a:solidFill>
                <a:latin typeface="Calibri"/>
              </a:rPr>
              <a:t>  – the rectangle is the application; use cases map to its tabs and to the data-access functions in the back end.</a:t>
            </a:r>
          </a:p>
          <a:p>
            <a:pPr algn="l" marL="201168" indent="-201168">
              <a:lnSpc>
                <a:spcPct val="100000"/>
              </a:lnSpc>
              <a:spcAft>
                <a:spcPts val="1400"/>
              </a:spcAft>
              <a:buChar char="•"/>
            </a:pPr>
            <a:r>
              <a:rPr b="1" sz="1800">
                <a:solidFill>
                  <a:srgbClr val="22303F"/>
                </a:solidFill>
                <a:latin typeface="Calibri"/>
              </a:rPr>
              <a:t>Role rules</a:t>
            </a:r>
            <a:r>
              <a:rPr sz="1800">
                <a:solidFill>
                  <a:srgbClr val="22303F"/>
                </a:solidFill>
                <a:latin typeface="Calibri"/>
              </a:rPr>
              <a:t>  – the diagram states the intended permissions; enforcing them in the GUI and with MySQL GRANT is listed under future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Database Design – ER Diagram</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Chen notation: entities, attributes, relationships</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4</a:t>
            </a:r>
          </a:p>
        </p:txBody>
      </p:sp>
      <p:sp>
        <p:nvSpPr>
          <p:cNvPr id="8" name="Rounded Rectangle 7"/>
          <p:cNvSpPr/>
          <p:nvPr/>
        </p:nvSpPr>
        <p:spPr>
          <a:xfrm>
            <a:off x="548640" y="1508760"/>
            <a:ext cx="8366760" cy="4846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ER_Chen.png"/>
          <p:cNvPicPr>
            <a:picLocks noChangeAspect="1"/>
          </p:cNvPicPr>
          <p:nvPr/>
        </p:nvPicPr>
        <p:blipFill>
          <a:blip r:embed="rId2"/>
          <a:stretch>
            <a:fillRect/>
          </a:stretch>
        </p:blipFill>
        <p:spPr>
          <a:xfrm>
            <a:off x="1198577" y="1554480"/>
            <a:ext cx="7066885" cy="4754879"/>
          </a:xfrm>
          <a:prstGeom prst="rect">
            <a:avLst/>
          </a:prstGeom>
        </p:spPr>
      </p:pic>
      <p:sp>
        <p:nvSpPr>
          <p:cNvPr id="10" name="TextBox 9"/>
          <p:cNvSpPr txBox="1"/>
          <p:nvPr/>
        </p:nvSpPr>
        <p:spPr>
          <a:xfrm>
            <a:off x="9144000" y="1508760"/>
            <a:ext cx="2606040" cy="4846320"/>
          </a:xfrm>
          <a:prstGeom prst="rect">
            <a:avLst/>
          </a:prstGeom>
          <a:noFill/>
        </p:spPr>
        <p:txBody>
          <a:bodyPr wrap="square" anchor="t" lIns="45720" rIns="45720" tIns="27432" bIns="27432">
            <a:spAutoFit/>
          </a:bodyPr>
          <a:lstStyle/>
          <a:p>
            <a:pPr algn="l">
              <a:lnSpc>
                <a:spcPct val="100000"/>
              </a:lnSpc>
              <a:spcAft>
                <a:spcPts val="1100"/>
              </a:spcAft>
            </a:pPr>
            <a:r>
              <a:rPr b="1" sz="1400">
                <a:solidFill>
                  <a:srgbClr val="22303F"/>
                </a:solidFill>
                <a:latin typeface="Calibri"/>
              </a:rPr>
              <a:t>6 entities</a:t>
            </a:r>
            <a:r>
              <a:rPr sz="1400">
                <a:solidFill>
                  <a:srgbClr val="22303F"/>
                </a:solidFill>
                <a:latin typeface="Calibri"/>
              </a:rPr>
              <a:t/>
            </a:r>
            <a:br/>
            <a:r>
              <a:rPr sz="1400">
                <a:solidFill>
                  <a:srgbClr val="22303F"/>
                </a:solidFill>
                <a:latin typeface="Calibri"/>
              </a:rPr>
              <a:t>USER, ROOM_TYPE, ROOM, GUEST, BOOKING, PAYMENT</a:t>
            </a:r>
          </a:p>
          <a:p>
            <a:pPr algn="l">
              <a:lnSpc>
                <a:spcPct val="100000"/>
              </a:lnSpc>
              <a:spcAft>
                <a:spcPts val="1100"/>
              </a:spcAft>
            </a:pPr>
            <a:r>
              <a:rPr b="1" sz="1400">
                <a:solidFill>
                  <a:srgbClr val="22303F"/>
                </a:solidFill>
                <a:latin typeface="Calibri"/>
              </a:rPr>
              <a:t>4 relationships</a:t>
            </a:r>
            <a:r>
              <a:rPr sz="1400">
                <a:solidFill>
                  <a:srgbClr val="22303F"/>
                </a:solidFill>
                <a:latin typeface="Calibri"/>
              </a:rPr>
              <a:t>, all 1 : N</a:t>
            </a:r>
            <a:br/>
            <a:r>
              <a:rPr sz="1400">
                <a:solidFill>
                  <a:srgbClr val="22303F"/>
                </a:solidFill>
                <a:latin typeface="Calibri"/>
              </a:rPr>
              <a:t>Classified as · Reserved in · Makes · Settled by</a:t>
            </a:r>
          </a:p>
          <a:p>
            <a:pPr algn="l">
              <a:lnSpc>
                <a:spcPct val="100000"/>
              </a:lnSpc>
              <a:spcAft>
                <a:spcPts val="1100"/>
              </a:spcAft>
            </a:pPr>
            <a:r>
              <a:rPr b="1" sz="1400">
                <a:solidFill>
                  <a:srgbClr val="22303F"/>
                </a:solidFill>
                <a:latin typeface="Calibri"/>
              </a:rPr>
              <a:t>Total participation</a:t>
            </a:r>
            <a:r>
              <a:rPr sz="1400">
                <a:solidFill>
                  <a:srgbClr val="22303F"/>
                </a:solidFill>
                <a:latin typeface="Calibri"/>
              </a:rPr>
              <a:t/>
            </a:r>
            <a:br/>
            <a:r>
              <a:rPr sz="1400">
                <a:solidFill>
                  <a:srgbClr val="22303F"/>
                </a:solidFill>
                <a:latin typeface="Calibri"/>
              </a:rPr>
              <a:t>BOOKING, PAYMENT and ROOM always belong to their parent (double line)</a:t>
            </a:r>
          </a:p>
          <a:p>
            <a:pPr algn="l">
              <a:lnSpc>
                <a:spcPct val="100000"/>
              </a:lnSpc>
              <a:spcAft>
                <a:spcPts val="1100"/>
              </a:spcAft>
            </a:pPr>
            <a:r>
              <a:rPr b="1" sz="1400">
                <a:solidFill>
                  <a:srgbClr val="22303F"/>
                </a:solidFill>
                <a:latin typeface="Calibri"/>
              </a:rPr>
              <a:t>Derived</a:t>
            </a:r>
            <a:r>
              <a:rPr sz="1400">
                <a:solidFill>
                  <a:srgbClr val="22303F"/>
                </a:solidFill>
                <a:latin typeface="Calibri"/>
              </a:rPr>
              <a:t/>
            </a:r>
            <a:br/>
            <a:r>
              <a:rPr sz="1400">
                <a:solidFill>
                  <a:srgbClr val="22303F"/>
                </a:solidFill>
                <a:latin typeface="Calibri"/>
              </a:rPr>
              <a:t>nights and total_amount are computed, never stored (dashed)</a:t>
            </a:r>
          </a:p>
          <a:p>
            <a:pPr algn="l">
              <a:lnSpc>
                <a:spcPct val="100000"/>
              </a:lnSpc>
              <a:spcAft>
                <a:spcPts val="1100"/>
              </a:spcAft>
            </a:pPr>
            <a:r>
              <a:rPr b="1" sz="1400">
                <a:solidFill>
                  <a:srgbClr val="22303F"/>
                </a:solidFill>
                <a:latin typeface="Calibri"/>
              </a:rPr>
              <a:t>Composite</a:t>
            </a:r>
            <a:r>
              <a:rPr sz="1400">
                <a:solidFill>
                  <a:srgbClr val="22303F"/>
                </a:solidFill>
                <a:latin typeface="Calibri"/>
              </a:rPr>
              <a:t/>
            </a:r>
            <a:br/>
            <a:r>
              <a:rPr sz="1400">
                <a:solidFill>
                  <a:srgbClr val="22303F"/>
                </a:solidFill>
                <a:latin typeface="Calibri"/>
              </a:rPr>
              <a:t>GUEST.name = first_name + last_name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Relational Schema</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ER diagram mapped to tables – PK, FK and constraints</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5</a:t>
            </a:r>
          </a:p>
        </p:txBody>
      </p:sp>
      <p:sp>
        <p:nvSpPr>
          <p:cNvPr id="8" name="Rounded Rectangle 7"/>
          <p:cNvSpPr/>
          <p:nvPr/>
        </p:nvSpPr>
        <p:spPr>
          <a:xfrm>
            <a:off x="548640" y="1554480"/>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554480"/>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563624"/>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USERS</a:t>
            </a:r>
          </a:p>
        </p:txBody>
      </p:sp>
      <p:sp>
        <p:nvSpPr>
          <p:cNvPr id="11" name="TextBox 10"/>
          <p:cNvSpPr txBox="1"/>
          <p:nvPr/>
        </p:nvSpPr>
        <p:spPr>
          <a:xfrm>
            <a:off x="658368" y="201168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user_id  PK</a:t>
            </a:r>
          </a:p>
          <a:p>
            <a:pPr algn="l">
              <a:lnSpc>
                <a:spcPct val="100000"/>
              </a:lnSpc>
              <a:spcAft>
                <a:spcPts val="300"/>
              </a:spcAft>
            </a:pPr>
            <a:r>
              <a:rPr sz="1300" b="0">
                <a:solidFill>
                  <a:srgbClr val="22303F"/>
                </a:solidFill>
                <a:latin typeface="Consolas"/>
              </a:rPr>
              <a:t>username  UNIQUE</a:t>
            </a:r>
          </a:p>
          <a:p>
            <a:pPr algn="l">
              <a:lnSpc>
                <a:spcPct val="100000"/>
              </a:lnSpc>
              <a:spcAft>
                <a:spcPts val="300"/>
              </a:spcAft>
            </a:pPr>
            <a:r>
              <a:rPr sz="1300" b="0">
                <a:solidFill>
                  <a:srgbClr val="22303F"/>
                </a:solidFill>
                <a:latin typeface="Consolas"/>
              </a:rPr>
              <a:t>password  (SHA-256)</a:t>
            </a:r>
          </a:p>
          <a:p>
            <a:pPr algn="l">
              <a:lnSpc>
                <a:spcPct val="100000"/>
              </a:lnSpc>
              <a:spcAft>
                <a:spcPts val="300"/>
              </a:spcAft>
            </a:pPr>
            <a:r>
              <a:rPr sz="1300" b="0">
                <a:solidFill>
                  <a:srgbClr val="22303F"/>
                </a:solidFill>
                <a:latin typeface="Consolas"/>
              </a:rPr>
              <a:t>role  ENUM</a:t>
            </a:r>
          </a:p>
          <a:p>
            <a:pPr algn="l">
              <a:lnSpc>
                <a:spcPct val="100000"/>
              </a:lnSpc>
              <a:spcAft>
                <a:spcPts val="300"/>
              </a:spcAft>
            </a:pPr>
            <a:r>
              <a:rPr sz="1300" b="0">
                <a:solidFill>
                  <a:srgbClr val="22303F"/>
                </a:solidFill>
                <a:latin typeface="Consolas"/>
              </a:rPr>
              <a:t>created_at</a:t>
            </a:r>
          </a:p>
        </p:txBody>
      </p:sp>
      <p:sp>
        <p:nvSpPr>
          <p:cNvPr id="12" name="Rounded Rectangle 11"/>
          <p:cNvSpPr/>
          <p:nvPr/>
        </p:nvSpPr>
        <p:spPr>
          <a:xfrm>
            <a:off x="4297679" y="1554480"/>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297679" y="1554480"/>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07407" y="1563624"/>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ROOM_TYPES</a:t>
            </a:r>
          </a:p>
        </p:txBody>
      </p:sp>
      <p:sp>
        <p:nvSpPr>
          <p:cNvPr id="15" name="TextBox 14"/>
          <p:cNvSpPr txBox="1"/>
          <p:nvPr/>
        </p:nvSpPr>
        <p:spPr>
          <a:xfrm>
            <a:off x="4407407" y="201168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room_type_id  PK</a:t>
            </a:r>
          </a:p>
          <a:p>
            <a:pPr algn="l">
              <a:lnSpc>
                <a:spcPct val="100000"/>
              </a:lnSpc>
              <a:spcAft>
                <a:spcPts val="300"/>
              </a:spcAft>
            </a:pPr>
            <a:r>
              <a:rPr sz="1300" b="0">
                <a:solidFill>
                  <a:srgbClr val="22303F"/>
                </a:solidFill>
                <a:latin typeface="Consolas"/>
              </a:rPr>
              <a:t>room_type_name  UNIQUE</a:t>
            </a:r>
          </a:p>
          <a:p>
            <a:pPr algn="l">
              <a:lnSpc>
                <a:spcPct val="100000"/>
              </a:lnSpc>
              <a:spcAft>
                <a:spcPts val="300"/>
              </a:spcAft>
            </a:pPr>
            <a:r>
              <a:rPr sz="1300" b="0">
                <a:solidFill>
                  <a:srgbClr val="22303F"/>
                </a:solidFill>
                <a:latin typeface="Consolas"/>
              </a:rPr>
              <a:t>capacity  CHECK 1–10</a:t>
            </a:r>
          </a:p>
          <a:p>
            <a:pPr algn="l">
              <a:lnSpc>
                <a:spcPct val="100000"/>
              </a:lnSpc>
              <a:spcAft>
                <a:spcPts val="300"/>
              </a:spcAft>
            </a:pPr>
            <a:r>
              <a:rPr sz="1300" b="0">
                <a:solidFill>
                  <a:srgbClr val="22303F"/>
                </a:solidFill>
                <a:latin typeface="Consolas"/>
              </a:rPr>
              <a:t>price_per_night  CHECK &gt; 0</a:t>
            </a:r>
          </a:p>
        </p:txBody>
      </p:sp>
      <p:sp>
        <p:nvSpPr>
          <p:cNvPr id="16" name="Rounded Rectangle 15"/>
          <p:cNvSpPr/>
          <p:nvPr/>
        </p:nvSpPr>
        <p:spPr>
          <a:xfrm>
            <a:off x="8046719" y="1554480"/>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6719" y="1554480"/>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56447" y="1563624"/>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ROOMS</a:t>
            </a:r>
          </a:p>
        </p:txBody>
      </p:sp>
      <p:sp>
        <p:nvSpPr>
          <p:cNvPr id="19" name="TextBox 18"/>
          <p:cNvSpPr txBox="1"/>
          <p:nvPr/>
        </p:nvSpPr>
        <p:spPr>
          <a:xfrm>
            <a:off x="8156447" y="201168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room_id  PK</a:t>
            </a:r>
          </a:p>
          <a:p>
            <a:pPr algn="l">
              <a:lnSpc>
                <a:spcPct val="100000"/>
              </a:lnSpc>
              <a:spcAft>
                <a:spcPts val="300"/>
              </a:spcAft>
            </a:pPr>
            <a:r>
              <a:rPr sz="1300" b="0">
                <a:solidFill>
                  <a:srgbClr val="22303F"/>
                </a:solidFill>
                <a:latin typeface="Consolas"/>
              </a:rPr>
              <a:t>room_number  UNIQUE</a:t>
            </a:r>
          </a:p>
          <a:p>
            <a:pPr algn="l">
              <a:lnSpc>
                <a:spcPct val="100000"/>
              </a:lnSpc>
              <a:spcAft>
                <a:spcPts val="300"/>
              </a:spcAft>
            </a:pPr>
            <a:r>
              <a:rPr sz="1300" b="0">
                <a:solidFill>
                  <a:srgbClr val="22303F"/>
                </a:solidFill>
                <a:latin typeface="Consolas"/>
              </a:rPr>
              <a:t>room_type_id  FK → ROOM_TYPES (RESTRICT)</a:t>
            </a:r>
          </a:p>
          <a:p>
            <a:pPr algn="l">
              <a:lnSpc>
                <a:spcPct val="100000"/>
              </a:lnSpc>
              <a:spcAft>
                <a:spcPts val="300"/>
              </a:spcAft>
            </a:pPr>
            <a:r>
              <a:rPr sz="1300" b="0">
                <a:solidFill>
                  <a:srgbClr val="22303F"/>
                </a:solidFill>
                <a:latin typeface="Consolas"/>
              </a:rPr>
              <a:t>floor  CHECK 0–50</a:t>
            </a:r>
          </a:p>
          <a:p>
            <a:pPr algn="l">
              <a:lnSpc>
                <a:spcPct val="100000"/>
              </a:lnSpc>
              <a:spcAft>
                <a:spcPts val="300"/>
              </a:spcAft>
            </a:pPr>
            <a:r>
              <a:rPr sz="1300" b="0">
                <a:solidFill>
                  <a:srgbClr val="22303F"/>
                </a:solidFill>
                <a:latin typeface="Consolas"/>
              </a:rPr>
              <a:t>status  ENUM</a:t>
            </a:r>
          </a:p>
        </p:txBody>
      </p:sp>
      <p:sp>
        <p:nvSpPr>
          <p:cNvPr id="20" name="Rounded Rectangle 19"/>
          <p:cNvSpPr/>
          <p:nvPr/>
        </p:nvSpPr>
        <p:spPr>
          <a:xfrm>
            <a:off x="548640" y="3977639"/>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8640" y="3977639"/>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8368" y="3986783"/>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GUESTS</a:t>
            </a:r>
          </a:p>
        </p:txBody>
      </p:sp>
      <p:sp>
        <p:nvSpPr>
          <p:cNvPr id="23" name="TextBox 22"/>
          <p:cNvSpPr txBox="1"/>
          <p:nvPr/>
        </p:nvSpPr>
        <p:spPr>
          <a:xfrm>
            <a:off x="658368" y="443484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guest_id  PK</a:t>
            </a:r>
          </a:p>
          <a:p>
            <a:pPr algn="l">
              <a:lnSpc>
                <a:spcPct val="100000"/>
              </a:lnSpc>
              <a:spcAft>
                <a:spcPts val="300"/>
              </a:spcAft>
            </a:pPr>
            <a:r>
              <a:rPr sz="1300" b="0">
                <a:solidFill>
                  <a:srgbClr val="22303F"/>
                </a:solidFill>
                <a:latin typeface="Consolas"/>
              </a:rPr>
              <a:t>first_name, last_name</a:t>
            </a:r>
          </a:p>
          <a:p>
            <a:pPr algn="l">
              <a:lnSpc>
                <a:spcPct val="100000"/>
              </a:lnSpc>
              <a:spcAft>
                <a:spcPts val="300"/>
              </a:spcAft>
            </a:pPr>
            <a:r>
              <a:rPr sz="1300" b="0">
                <a:solidFill>
                  <a:srgbClr val="22303F"/>
                </a:solidFill>
                <a:latin typeface="Consolas"/>
              </a:rPr>
              <a:t>gender  ENUM</a:t>
            </a:r>
          </a:p>
          <a:p>
            <a:pPr algn="l">
              <a:lnSpc>
                <a:spcPct val="100000"/>
              </a:lnSpc>
              <a:spcAft>
                <a:spcPts val="300"/>
              </a:spcAft>
            </a:pPr>
            <a:r>
              <a:rPr sz="1300" b="0">
                <a:solidFill>
                  <a:srgbClr val="22303F"/>
                </a:solidFill>
                <a:latin typeface="Consolas"/>
              </a:rPr>
              <a:t>phone  UNIQUE</a:t>
            </a:r>
          </a:p>
          <a:p>
            <a:pPr algn="l">
              <a:lnSpc>
                <a:spcPct val="100000"/>
              </a:lnSpc>
              <a:spcAft>
                <a:spcPts val="300"/>
              </a:spcAft>
            </a:pPr>
            <a:r>
              <a:rPr sz="1300" b="0">
                <a:solidFill>
                  <a:srgbClr val="22303F"/>
                </a:solidFill>
                <a:latin typeface="Consolas"/>
              </a:rPr>
              <a:t>email, address</a:t>
            </a:r>
          </a:p>
          <a:p>
            <a:pPr algn="l">
              <a:lnSpc>
                <a:spcPct val="100000"/>
              </a:lnSpc>
              <a:spcAft>
                <a:spcPts val="300"/>
              </a:spcAft>
            </a:pPr>
            <a:r>
              <a:rPr sz="1300" b="0">
                <a:solidFill>
                  <a:srgbClr val="22303F"/>
                </a:solidFill>
                <a:latin typeface="Consolas"/>
              </a:rPr>
              <a:t>id_proof  ENUM, id_number</a:t>
            </a:r>
          </a:p>
          <a:p>
            <a:pPr algn="l">
              <a:lnSpc>
                <a:spcPct val="100000"/>
              </a:lnSpc>
              <a:spcAft>
                <a:spcPts val="300"/>
              </a:spcAft>
            </a:pPr>
            <a:r>
              <a:rPr sz="1300" b="0">
                <a:solidFill>
                  <a:srgbClr val="22303F"/>
                </a:solidFill>
                <a:latin typeface="Consolas"/>
              </a:rPr>
              <a:t>UNIQUE (id_proof, id_number)</a:t>
            </a:r>
          </a:p>
        </p:txBody>
      </p:sp>
      <p:sp>
        <p:nvSpPr>
          <p:cNvPr id="24" name="Rounded Rectangle 23"/>
          <p:cNvSpPr/>
          <p:nvPr/>
        </p:nvSpPr>
        <p:spPr>
          <a:xfrm>
            <a:off x="4297679" y="3977639"/>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297679" y="3977639"/>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07407" y="3986783"/>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BOOKINGS</a:t>
            </a:r>
          </a:p>
        </p:txBody>
      </p:sp>
      <p:sp>
        <p:nvSpPr>
          <p:cNvPr id="27" name="TextBox 26"/>
          <p:cNvSpPr txBox="1"/>
          <p:nvPr/>
        </p:nvSpPr>
        <p:spPr>
          <a:xfrm>
            <a:off x="4407407" y="443484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booking_id  PK</a:t>
            </a:r>
          </a:p>
          <a:p>
            <a:pPr algn="l">
              <a:lnSpc>
                <a:spcPct val="100000"/>
              </a:lnSpc>
              <a:spcAft>
                <a:spcPts val="300"/>
              </a:spcAft>
            </a:pPr>
            <a:r>
              <a:rPr sz="1300" b="0">
                <a:solidFill>
                  <a:srgbClr val="22303F"/>
                </a:solidFill>
                <a:latin typeface="Consolas"/>
              </a:rPr>
              <a:t>guest_id  FK → GUESTS (CASCADE)</a:t>
            </a:r>
          </a:p>
          <a:p>
            <a:pPr algn="l">
              <a:lnSpc>
                <a:spcPct val="100000"/>
              </a:lnSpc>
              <a:spcAft>
                <a:spcPts val="300"/>
              </a:spcAft>
            </a:pPr>
            <a:r>
              <a:rPr sz="1300" b="0">
                <a:solidFill>
                  <a:srgbClr val="22303F"/>
                </a:solidFill>
                <a:latin typeface="Consolas"/>
              </a:rPr>
              <a:t>room_id  FK → ROOMS (RESTRICT)</a:t>
            </a:r>
          </a:p>
          <a:p>
            <a:pPr algn="l">
              <a:lnSpc>
                <a:spcPct val="100000"/>
              </a:lnSpc>
              <a:spcAft>
                <a:spcPts val="300"/>
              </a:spcAft>
            </a:pPr>
            <a:r>
              <a:rPr sz="1300" b="0">
                <a:solidFill>
                  <a:srgbClr val="22303F"/>
                </a:solidFill>
                <a:latin typeface="Consolas"/>
              </a:rPr>
              <a:t>check_in_date, check_out_date</a:t>
            </a:r>
          </a:p>
          <a:p>
            <a:pPr algn="l">
              <a:lnSpc>
                <a:spcPct val="100000"/>
              </a:lnSpc>
              <a:spcAft>
                <a:spcPts val="300"/>
              </a:spcAft>
            </a:pPr>
            <a:r>
              <a:rPr sz="1300" b="0">
                <a:solidFill>
                  <a:srgbClr val="22303F"/>
                </a:solidFill>
                <a:latin typeface="Consolas"/>
              </a:rPr>
              <a:t>CHECK check_out &gt; check_in</a:t>
            </a:r>
          </a:p>
          <a:p>
            <a:pPr algn="l">
              <a:lnSpc>
                <a:spcPct val="100000"/>
              </a:lnSpc>
              <a:spcAft>
                <a:spcPts val="300"/>
              </a:spcAft>
            </a:pPr>
            <a:r>
              <a:rPr sz="1300" b="0">
                <a:solidFill>
                  <a:srgbClr val="22303F"/>
                </a:solidFill>
                <a:latin typeface="Consolas"/>
              </a:rPr>
              <a:t>number_of_guests  CHECK 1–10</a:t>
            </a:r>
          </a:p>
          <a:p>
            <a:pPr algn="l">
              <a:lnSpc>
                <a:spcPct val="100000"/>
              </a:lnSpc>
              <a:spcAft>
                <a:spcPts val="300"/>
              </a:spcAft>
            </a:pPr>
            <a:r>
              <a:rPr sz="1300" b="0">
                <a:solidFill>
                  <a:srgbClr val="22303F"/>
                </a:solidFill>
                <a:latin typeface="Consolas"/>
              </a:rPr>
              <a:t>booking_date, booking_status  ENUM</a:t>
            </a:r>
          </a:p>
        </p:txBody>
      </p:sp>
      <p:sp>
        <p:nvSpPr>
          <p:cNvPr id="28" name="Rounded Rectangle 27"/>
          <p:cNvSpPr/>
          <p:nvPr/>
        </p:nvSpPr>
        <p:spPr>
          <a:xfrm>
            <a:off x="8046719" y="3977639"/>
            <a:ext cx="3657600" cy="23317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046719" y="3977639"/>
            <a:ext cx="3657600" cy="38404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156447" y="3986783"/>
            <a:ext cx="3474720" cy="365760"/>
          </a:xfrm>
          <a:prstGeom prst="rect">
            <a:avLst/>
          </a:prstGeom>
          <a:noFill/>
        </p:spPr>
        <p:txBody>
          <a:bodyPr wrap="square" anchor="ctr" lIns="45720" rIns="45720" tIns="27432" bIns="27432">
            <a:spAutoFit/>
          </a:bodyPr>
          <a:lstStyle/>
          <a:p>
            <a:pPr algn="l">
              <a:lnSpc>
                <a:spcPct val="100000"/>
              </a:lnSpc>
              <a:spcAft>
                <a:spcPts val="600"/>
              </a:spcAft>
            </a:pPr>
            <a:r>
              <a:rPr sz="1400" b="1">
                <a:solidFill>
                  <a:srgbClr val="FFFFFF"/>
                </a:solidFill>
                <a:latin typeface="Calibri"/>
              </a:rPr>
              <a:t>PAYMENTS</a:t>
            </a:r>
          </a:p>
        </p:txBody>
      </p:sp>
      <p:sp>
        <p:nvSpPr>
          <p:cNvPr id="31" name="TextBox 30"/>
          <p:cNvSpPr txBox="1"/>
          <p:nvPr/>
        </p:nvSpPr>
        <p:spPr>
          <a:xfrm>
            <a:off x="8156447" y="4434840"/>
            <a:ext cx="3474720" cy="1828799"/>
          </a:xfrm>
          <a:prstGeom prst="rect">
            <a:avLst/>
          </a:prstGeom>
          <a:noFill/>
        </p:spPr>
        <p:txBody>
          <a:bodyPr wrap="square" anchor="t" lIns="45720" rIns="45720" tIns="27432" bIns="27432">
            <a:spAutoFit/>
          </a:bodyPr>
          <a:lstStyle/>
          <a:p>
            <a:pPr algn="l">
              <a:lnSpc>
                <a:spcPct val="100000"/>
              </a:lnSpc>
              <a:spcAft>
                <a:spcPts val="300"/>
              </a:spcAft>
            </a:pPr>
            <a:r>
              <a:rPr sz="1300" b="0">
                <a:solidFill>
                  <a:srgbClr val="22303F"/>
                </a:solidFill>
                <a:latin typeface="Consolas"/>
              </a:rPr>
              <a:t>payment_id  PK</a:t>
            </a:r>
          </a:p>
          <a:p>
            <a:pPr algn="l">
              <a:lnSpc>
                <a:spcPct val="100000"/>
              </a:lnSpc>
              <a:spcAft>
                <a:spcPts val="300"/>
              </a:spcAft>
            </a:pPr>
            <a:r>
              <a:rPr sz="1300" b="0">
                <a:solidFill>
                  <a:srgbClr val="22303F"/>
                </a:solidFill>
                <a:latin typeface="Consolas"/>
              </a:rPr>
              <a:t>booking_id  FK → BOOKINGS (CASCADE)</a:t>
            </a:r>
          </a:p>
          <a:p>
            <a:pPr algn="l">
              <a:lnSpc>
                <a:spcPct val="100000"/>
              </a:lnSpc>
              <a:spcAft>
                <a:spcPts val="300"/>
              </a:spcAft>
            </a:pPr>
            <a:r>
              <a:rPr sz="1300" b="0">
                <a:solidFill>
                  <a:srgbClr val="22303F"/>
                </a:solidFill>
                <a:latin typeface="Consolas"/>
              </a:rPr>
              <a:t>amount  CHECK ≥ 0</a:t>
            </a:r>
          </a:p>
          <a:p>
            <a:pPr algn="l">
              <a:lnSpc>
                <a:spcPct val="100000"/>
              </a:lnSpc>
              <a:spcAft>
                <a:spcPts val="300"/>
              </a:spcAft>
            </a:pPr>
            <a:r>
              <a:rPr sz="1300" b="0">
                <a:solidFill>
                  <a:srgbClr val="22303F"/>
                </a:solidFill>
                <a:latin typeface="Consolas"/>
              </a:rPr>
              <a:t>payment_method  ENUM</a:t>
            </a:r>
          </a:p>
          <a:p>
            <a:pPr algn="l">
              <a:lnSpc>
                <a:spcPct val="100000"/>
              </a:lnSpc>
              <a:spcAft>
                <a:spcPts val="300"/>
              </a:spcAft>
            </a:pPr>
            <a:r>
              <a:rPr sz="1300" b="0">
                <a:solidFill>
                  <a:srgbClr val="22303F"/>
                </a:solidFill>
                <a:latin typeface="Consolas"/>
              </a:rPr>
              <a:t>payment_date</a:t>
            </a:r>
          </a:p>
          <a:p>
            <a:pPr algn="l">
              <a:lnSpc>
                <a:spcPct val="100000"/>
              </a:lnSpc>
              <a:spcAft>
                <a:spcPts val="300"/>
              </a:spcAft>
            </a:pPr>
            <a:r>
              <a:rPr sz="1300" b="0">
                <a:solidFill>
                  <a:srgbClr val="22303F"/>
                </a:solidFill>
                <a:latin typeface="Consolas"/>
              </a:rPr>
              <a:t>payment_status  ENUM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Normalization: Why 3NF and BCNF</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Every relation passes the stricter BCNF test, so it is also in 3NF</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6</a:t>
            </a:r>
          </a:p>
        </p:txBody>
      </p:sp>
      <p:sp>
        <p:nvSpPr>
          <p:cNvPr id="8" name="Rounded Rectangle 7"/>
          <p:cNvSpPr/>
          <p:nvPr/>
        </p:nvSpPr>
        <p:spPr>
          <a:xfrm>
            <a:off x="548640" y="1554480"/>
            <a:ext cx="5486400" cy="160020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609344"/>
            <a:ext cx="5120640" cy="365760"/>
          </a:xfrm>
          <a:prstGeom prst="rect">
            <a:avLst/>
          </a:prstGeom>
          <a:noFill/>
        </p:spPr>
        <p:txBody>
          <a:bodyPr wrap="square" anchor="t" lIns="45720" rIns="45720" tIns="27432" bIns="27432">
            <a:spAutoFit/>
          </a:bodyPr>
          <a:lstStyle/>
          <a:p>
            <a:pPr algn="l">
              <a:lnSpc>
                <a:spcPct val="100000"/>
              </a:lnSpc>
              <a:spcAft>
                <a:spcPts val="600"/>
              </a:spcAft>
            </a:pPr>
            <a:r>
              <a:rPr sz="1600" b="1">
                <a:solidFill>
                  <a:srgbClr val="334F43"/>
                </a:solidFill>
                <a:latin typeface="Georgia"/>
              </a:rPr>
              <a:t>The two tests</a:t>
            </a:r>
          </a:p>
        </p:txBody>
      </p:sp>
      <p:sp>
        <p:nvSpPr>
          <p:cNvPr id="10" name="TextBox 9"/>
          <p:cNvSpPr txBox="1"/>
          <p:nvPr/>
        </p:nvSpPr>
        <p:spPr>
          <a:xfrm>
            <a:off x="731520" y="2011680"/>
            <a:ext cx="5166360" cy="1143000"/>
          </a:xfrm>
          <a:prstGeom prst="rect">
            <a:avLst/>
          </a:prstGeom>
          <a:noFill/>
        </p:spPr>
        <p:txBody>
          <a:bodyPr wrap="square" anchor="t" lIns="45720" rIns="45720" tIns="27432" bIns="27432">
            <a:spAutoFit/>
          </a:bodyPr>
          <a:lstStyle/>
          <a:p>
            <a:pPr algn="l" marL="201168" indent="-201168">
              <a:lnSpc>
                <a:spcPct val="100000"/>
              </a:lnSpc>
              <a:spcAft>
                <a:spcPts val="600"/>
              </a:spcAft>
              <a:buChar char="•"/>
            </a:pPr>
            <a:r>
              <a:rPr b="1" sz="1450">
                <a:solidFill>
                  <a:srgbClr val="22303F"/>
                </a:solidFill>
                <a:latin typeface="Calibri"/>
              </a:rPr>
              <a:t>3NF</a:t>
            </a:r>
            <a:r>
              <a:rPr sz="1450">
                <a:solidFill>
                  <a:srgbClr val="22303F"/>
                </a:solidFill>
                <a:latin typeface="Calibri"/>
              </a:rPr>
              <a:t>  – for every FD X → A, X is a superkey or A is part of a candidate key.</a:t>
            </a:r>
          </a:p>
          <a:p>
            <a:pPr algn="l" marL="201168" indent="-201168">
              <a:lnSpc>
                <a:spcPct val="100000"/>
              </a:lnSpc>
              <a:spcAft>
                <a:spcPts val="600"/>
              </a:spcAft>
              <a:buChar char="•"/>
            </a:pPr>
            <a:r>
              <a:rPr b="1" sz="1450">
                <a:solidFill>
                  <a:srgbClr val="22303F"/>
                </a:solidFill>
                <a:latin typeface="Calibri"/>
              </a:rPr>
              <a:t>BCNF</a:t>
            </a:r>
            <a:r>
              <a:rPr sz="1450">
                <a:solidFill>
                  <a:srgbClr val="22303F"/>
                </a:solidFill>
                <a:latin typeface="Calibri"/>
              </a:rPr>
              <a:t>  – for every FD X → A, X must be a superkey (no exception).</a:t>
            </a:r>
          </a:p>
        </p:txBody>
      </p:sp>
      <p:sp>
        <p:nvSpPr>
          <p:cNvPr id="11" name="Rounded Rectangle 10"/>
          <p:cNvSpPr/>
          <p:nvPr/>
        </p:nvSpPr>
        <p:spPr>
          <a:xfrm>
            <a:off x="6309360" y="1554480"/>
            <a:ext cx="5349240" cy="160020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1609344"/>
            <a:ext cx="4983480" cy="365760"/>
          </a:xfrm>
          <a:prstGeom prst="rect">
            <a:avLst/>
          </a:prstGeom>
          <a:noFill/>
        </p:spPr>
        <p:txBody>
          <a:bodyPr wrap="square" anchor="t" lIns="45720" rIns="45720" tIns="27432" bIns="27432">
            <a:spAutoFit/>
          </a:bodyPr>
          <a:lstStyle/>
          <a:p>
            <a:pPr algn="l">
              <a:lnSpc>
                <a:spcPct val="100000"/>
              </a:lnSpc>
              <a:spcAft>
                <a:spcPts val="600"/>
              </a:spcAft>
            </a:pPr>
            <a:r>
              <a:rPr sz="1600" b="1">
                <a:solidFill>
                  <a:srgbClr val="334F43"/>
                </a:solidFill>
                <a:latin typeface="Georgia"/>
              </a:rPr>
              <a:t>Why the six tables pass</a:t>
            </a:r>
          </a:p>
        </p:txBody>
      </p:sp>
      <p:sp>
        <p:nvSpPr>
          <p:cNvPr id="13" name="TextBox 12"/>
          <p:cNvSpPr txBox="1"/>
          <p:nvPr/>
        </p:nvSpPr>
        <p:spPr>
          <a:xfrm>
            <a:off x="6492240" y="2011680"/>
            <a:ext cx="5029200" cy="1143000"/>
          </a:xfrm>
          <a:prstGeom prst="rect">
            <a:avLst/>
          </a:prstGeom>
          <a:noFill/>
        </p:spPr>
        <p:txBody>
          <a:bodyPr wrap="square" anchor="t" lIns="45720" rIns="45720" tIns="27432" bIns="27432">
            <a:spAutoFit/>
          </a:bodyPr>
          <a:lstStyle/>
          <a:p>
            <a:pPr algn="l" marL="201168" indent="-201168">
              <a:lnSpc>
                <a:spcPct val="100000"/>
              </a:lnSpc>
              <a:spcAft>
                <a:spcPts val="600"/>
              </a:spcAft>
              <a:buChar char="•"/>
            </a:pPr>
            <a:r>
              <a:rPr sz="1450" b="0">
                <a:solidFill>
                  <a:srgbClr val="22303F"/>
                </a:solidFill>
                <a:latin typeface="Calibri"/>
              </a:rPr>
              <a:t>The only determinants are the primary key and UNIQUE candidate keys.</a:t>
            </a:r>
          </a:p>
          <a:p>
            <a:pPr algn="l" marL="201168" indent="-201168">
              <a:lnSpc>
                <a:spcPct val="100000"/>
              </a:lnSpc>
              <a:spcAft>
                <a:spcPts val="600"/>
              </a:spcAft>
              <a:buChar char="•"/>
            </a:pPr>
            <a:r>
              <a:rPr sz="1450" b="0">
                <a:solidFill>
                  <a:srgbClr val="22303F"/>
                </a:solidFill>
                <a:latin typeface="Calibri"/>
              </a:rPr>
              <a:t>Every determinant is a superkey → BCNF holds, and BCNF implies 3NF.</a:t>
            </a:r>
          </a:p>
        </p:txBody>
      </p:sp>
      <p:sp>
        <p:nvSpPr>
          <p:cNvPr id="14" name="Rounded Rectangle 13"/>
          <p:cNvSpPr/>
          <p:nvPr/>
        </p:nvSpPr>
        <p:spPr>
          <a:xfrm>
            <a:off x="548640" y="3337560"/>
            <a:ext cx="11109960" cy="21031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3383280"/>
            <a:ext cx="10698480" cy="365760"/>
          </a:xfrm>
          <a:prstGeom prst="rect">
            <a:avLst/>
          </a:prstGeom>
          <a:noFill/>
        </p:spPr>
        <p:txBody>
          <a:bodyPr wrap="square" anchor="t" lIns="45720" rIns="45720" tIns="27432" bIns="27432">
            <a:spAutoFit/>
          </a:bodyPr>
          <a:lstStyle/>
          <a:p>
            <a:pPr algn="l">
              <a:lnSpc>
                <a:spcPct val="100000"/>
              </a:lnSpc>
              <a:spcAft>
                <a:spcPts val="600"/>
              </a:spcAft>
            </a:pPr>
            <a:r>
              <a:rPr sz="1600" b="1">
                <a:solidFill>
                  <a:srgbClr val="334F43"/>
                </a:solidFill>
                <a:latin typeface="Georgia"/>
              </a:rPr>
              <a:t>How the flat register was decomposed</a:t>
            </a:r>
          </a:p>
        </p:txBody>
      </p:sp>
      <p:sp>
        <p:nvSpPr>
          <p:cNvPr id="16" name="TextBox 15"/>
          <p:cNvSpPr txBox="1"/>
          <p:nvPr/>
        </p:nvSpPr>
        <p:spPr>
          <a:xfrm>
            <a:off x="731520" y="3794760"/>
            <a:ext cx="10744200" cy="1645920"/>
          </a:xfrm>
          <a:prstGeom prst="rect">
            <a:avLst/>
          </a:prstGeom>
          <a:noFill/>
        </p:spPr>
        <p:txBody>
          <a:bodyPr wrap="square" anchor="t" lIns="45720" rIns="45720" tIns="27432" bIns="27432">
            <a:spAutoFit/>
          </a:bodyPr>
          <a:lstStyle/>
          <a:p>
            <a:pPr algn="l" marL="201168" indent="-201168">
              <a:lnSpc>
                <a:spcPct val="100000"/>
              </a:lnSpc>
              <a:spcAft>
                <a:spcPts val="500"/>
              </a:spcAft>
              <a:buChar char="•"/>
            </a:pPr>
            <a:r>
              <a:rPr b="1" sz="1450">
                <a:solidFill>
                  <a:srgbClr val="22303F"/>
                </a:solidFill>
                <a:latin typeface="Calibri"/>
              </a:rPr>
              <a:t>1NF</a:t>
            </a:r>
            <a:r>
              <a:rPr sz="1450">
                <a:solidFill>
                  <a:srgbClr val="22303F"/>
                </a:solidFill>
                <a:latin typeface="Calibri"/>
              </a:rPr>
              <a:t>  – all values atomic; guest name stored as first_name + last_name.</a:t>
            </a:r>
          </a:p>
          <a:p>
            <a:pPr algn="l" marL="201168" indent="-201168">
              <a:lnSpc>
                <a:spcPct val="100000"/>
              </a:lnSpc>
              <a:spcAft>
                <a:spcPts val="500"/>
              </a:spcAft>
              <a:buChar char="•"/>
            </a:pPr>
            <a:r>
              <a:rPr b="1" sz="1450">
                <a:solidFill>
                  <a:srgbClr val="22303F"/>
                </a:solidFill>
                <a:latin typeface="Calibri"/>
              </a:rPr>
              <a:t>2NF</a:t>
            </a:r>
            <a:r>
              <a:rPr sz="1450">
                <a:solidFill>
                  <a:srgbClr val="22303F"/>
                </a:solidFill>
                <a:latin typeface="Calibri"/>
              </a:rPr>
              <a:t>  – no partial dependency: every table has a single-column surrogate key.</a:t>
            </a:r>
          </a:p>
          <a:p>
            <a:pPr algn="l" marL="201168" indent="-201168">
              <a:lnSpc>
                <a:spcPct val="100000"/>
              </a:lnSpc>
              <a:spcAft>
                <a:spcPts val="500"/>
              </a:spcAft>
              <a:buChar char="•"/>
            </a:pPr>
            <a:r>
              <a:rPr b="1" sz="1450">
                <a:solidFill>
                  <a:srgbClr val="22303F"/>
                </a:solidFill>
                <a:latin typeface="Calibri"/>
              </a:rPr>
              <a:t>3NF</a:t>
            </a:r>
            <a:r>
              <a:rPr sz="1450">
                <a:solidFill>
                  <a:srgbClr val="22303F"/>
                </a:solidFill>
                <a:latin typeface="Calibri"/>
              </a:rPr>
              <a:t>  – room → room type → price was a transitive dependency; the price now lives only in ROOM_TYPES.</a:t>
            </a:r>
          </a:p>
          <a:p>
            <a:pPr algn="l" marL="201168" indent="-201168">
              <a:lnSpc>
                <a:spcPct val="100000"/>
              </a:lnSpc>
              <a:spcAft>
                <a:spcPts val="500"/>
              </a:spcAft>
              <a:buChar char="•"/>
            </a:pPr>
            <a:r>
              <a:rPr b="1" sz="1450">
                <a:solidFill>
                  <a:srgbClr val="22303F"/>
                </a:solidFill>
                <a:latin typeface="Calibri"/>
              </a:rPr>
              <a:t>Derived data</a:t>
            </a:r>
            <a:r>
              <a:rPr sz="1450">
                <a:solidFill>
                  <a:srgbClr val="22303F"/>
                </a:solidFill>
                <a:latin typeface="Calibri"/>
              </a:rPr>
              <a:t>  – nights and total are computed in the view and procedure, never stored.</a:t>
            </a:r>
          </a:p>
        </p:txBody>
      </p:sp>
      <p:sp>
        <p:nvSpPr>
          <p:cNvPr id="17" name="Rounded Rectangle 16"/>
          <p:cNvSpPr/>
          <p:nvPr/>
        </p:nvSpPr>
        <p:spPr>
          <a:xfrm>
            <a:off x="548640" y="5577840"/>
            <a:ext cx="11109960" cy="731520"/>
          </a:xfrm>
          <a:prstGeom prst="roundRect">
            <a:avLst>
              <a:gd name="adj" fmla="val 6000"/>
            </a:avLst>
          </a:prstGeom>
          <a:solidFill>
            <a:srgbClr val="E3E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5596128"/>
            <a:ext cx="10744200" cy="694944"/>
          </a:xfrm>
          <a:prstGeom prst="rect">
            <a:avLst/>
          </a:prstGeom>
          <a:noFill/>
        </p:spPr>
        <p:txBody>
          <a:bodyPr wrap="square" anchor="ctr" lIns="45720" rIns="45720" tIns="27432" bIns="27432">
            <a:spAutoFit/>
          </a:bodyPr>
          <a:lstStyle/>
          <a:p>
            <a:pPr algn="l">
              <a:lnSpc>
                <a:spcPct val="100000"/>
              </a:lnSpc>
              <a:spcAft>
                <a:spcPts val="600"/>
              </a:spcAft>
            </a:pPr>
            <a:r>
              <a:rPr b="1" sz="1400">
                <a:solidFill>
                  <a:srgbClr val="22303F"/>
                </a:solidFill>
                <a:latin typeface="Calibri"/>
              </a:rPr>
              <a:t>Deliberate exception</a:t>
            </a:r>
            <a:r>
              <a:rPr sz="1400">
                <a:solidFill>
                  <a:srgbClr val="22303F"/>
                </a:solidFill>
                <a:latin typeface="Calibri"/>
              </a:rPr>
              <a:t>  PAYMENTS.amount is kept on purpose: it records what was actually paid at that day’s tariff, so it is not an FD violation.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Functional Dependencies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Candidate keys determine every attribute in each relation</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7</a:t>
            </a:r>
          </a:p>
        </p:txBody>
      </p:sp>
      <p:graphicFrame>
        <p:nvGraphicFramePr>
          <p:cNvPr id="8" name="Table 7"/>
          <p:cNvGraphicFramePr>
            <a:graphicFrameLocks noGrp="1"/>
          </p:cNvGraphicFramePr>
          <p:nvPr/>
        </p:nvGraphicFramePr>
        <p:xfrm>
          <a:off x="548640" y="1645920"/>
          <a:ext cx="11109960" cy="3474720"/>
        </p:xfrm>
        <a:graphic>
          <a:graphicData uri="http://schemas.openxmlformats.org/drawingml/2006/table">
            <a:tbl>
              <a:tblPr firstRow="1" bandRow="1">
                <a:tableStyleId>{5C22544A-7EE6-4342-B048-85BDC9FD1C3A}</a:tableStyleId>
              </a:tblPr>
              <a:tblGrid>
                <a:gridCol w="1920240"/>
                <a:gridCol w="7818120"/>
                <a:gridCol w="1371600"/>
              </a:tblGrid>
              <a:tr h="496388">
                <a:tc>
                  <a:txBody>
                    <a:bodyPr wrap="square"/>
                    <a:lstStyle/>
                    <a:p>
                      <a:r>
                        <a:rPr sz="1600" b="1">
                          <a:solidFill>
                            <a:srgbClr val="FFFFFF"/>
                          </a:solidFill>
                          <a:latin typeface="Calibri"/>
                        </a:rPr>
                        <a:t>Relation</a:t>
                      </a:r>
                    </a:p>
                  </a:txBody>
                  <a:tcPr anchor="ctr" marL="73152" marR="73152">
                    <a:solidFill>
                      <a:srgbClr val="334F43"/>
                    </a:solidFill>
                  </a:tcPr>
                </a:tc>
                <a:tc>
                  <a:txBody>
                    <a:bodyPr wrap="square"/>
                    <a:lstStyle/>
                    <a:p>
                      <a:r>
                        <a:rPr sz="1600" b="1">
                          <a:solidFill>
                            <a:srgbClr val="FFFFFF"/>
                          </a:solidFill>
                          <a:latin typeface="Calibri"/>
                        </a:rPr>
                        <a:t>Functional dependencies</a:t>
                      </a:r>
                    </a:p>
                  </a:txBody>
                  <a:tcPr anchor="ctr" marL="73152" marR="73152">
                    <a:solidFill>
                      <a:srgbClr val="334F43"/>
                    </a:solidFill>
                  </a:tcPr>
                </a:tc>
                <a:tc>
                  <a:txBody>
                    <a:bodyPr wrap="square"/>
                    <a:lstStyle/>
                    <a:p>
                      <a:r>
                        <a:rPr sz="1600" b="1">
                          <a:solidFill>
                            <a:srgbClr val="FFFFFF"/>
                          </a:solidFill>
                          <a:latin typeface="Calibri"/>
                        </a:rPr>
                        <a:t>NF</a:t>
                      </a:r>
                    </a:p>
                  </a:txBody>
                  <a:tcPr anchor="ctr" marL="73152" marR="73152">
                    <a:solidFill>
                      <a:srgbClr val="334F43"/>
                    </a:solidFill>
                  </a:tcPr>
                </a:tc>
              </a:tr>
              <a:tr h="496388">
                <a:tc>
                  <a:txBody>
                    <a:bodyPr wrap="square"/>
                    <a:lstStyle/>
                    <a:p>
                      <a:r>
                        <a:rPr sz="1600" b="1">
                          <a:solidFill>
                            <a:srgbClr val="22303F"/>
                          </a:solidFill>
                          <a:latin typeface="Calibri"/>
                        </a:rPr>
                        <a:t>USERS</a:t>
                      </a:r>
                    </a:p>
                  </a:txBody>
                  <a:tcPr anchor="ctr" marL="73152" marR="73152">
                    <a:solidFill>
                      <a:srgbClr val="FFFFFF"/>
                    </a:solidFill>
                  </a:tcPr>
                </a:tc>
                <a:tc>
                  <a:txBody>
                    <a:bodyPr wrap="square"/>
                    <a:lstStyle/>
                    <a:p>
                      <a:r>
                        <a:rPr sz="1600" b="0">
                          <a:solidFill>
                            <a:srgbClr val="22303F"/>
                          </a:solidFill>
                          <a:latin typeface="Calibri"/>
                        </a:rPr>
                        <a:t>user_id → all  ;  username → all</a:t>
                      </a:r>
                    </a:p>
                  </a:txBody>
                  <a:tcPr anchor="ctr" marL="73152" marR="73152">
                    <a:solidFill>
                      <a:srgbClr val="FFFFFF"/>
                    </a:solidFill>
                  </a:tcPr>
                </a:tc>
                <a:tc>
                  <a:txBody>
                    <a:bodyPr wrap="square"/>
                    <a:lstStyle/>
                    <a:p>
                      <a:r>
                        <a:rPr sz="1600" b="0">
                          <a:solidFill>
                            <a:srgbClr val="22303F"/>
                          </a:solidFill>
                          <a:latin typeface="Calibri"/>
                        </a:rPr>
                        <a:t>BCNF</a:t>
                      </a:r>
                    </a:p>
                  </a:txBody>
                  <a:tcPr anchor="ctr" marL="73152" marR="73152">
                    <a:solidFill>
                      <a:srgbClr val="FFFFFF"/>
                    </a:solidFill>
                  </a:tcPr>
                </a:tc>
              </a:tr>
              <a:tr h="496388">
                <a:tc>
                  <a:txBody>
                    <a:bodyPr wrap="square"/>
                    <a:lstStyle/>
                    <a:p>
                      <a:r>
                        <a:rPr sz="1600" b="1">
                          <a:solidFill>
                            <a:srgbClr val="22303F"/>
                          </a:solidFill>
                          <a:latin typeface="Calibri"/>
                        </a:rPr>
                        <a:t>ROOM_TYPES</a:t>
                      </a:r>
                    </a:p>
                  </a:txBody>
                  <a:tcPr anchor="ctr" marL="73152" marR="73152">
                    <a:solidFill>
                      <a:srgbClr val="E3E8D6"/>
                    </a:solidFill>
                  </a:tcPr>
                </a:tc>
                <a:tc>
                  <a:txBody>
                    <a:bodyPr wrap="square"/>
                    <a:lstStyle/>
                    <a:p>
                      <a:r>
                        <a:rPr sz="1600" b="0">
                          <a:solidFill>
                            <a:srgbClr val="22303F"/>
                          </a:solidFill>
                          <a:latin typeface="Calibri"/>
                        </a:rPr>
                        <a:t>room_type_id → all  ;  room_type_name → all</a:t>
                      </a:r>
                    </a:p>
                  </a:txBody>
                  <a:tcPr anchor="ctr" marL="73152" marR="73152">
                    <a:solidFill>
                      <a:srgbClr val="E3E8D6"/>
                    </a:solidFill>
                  </a:tcPr>
                </a:tc>
                <a:tc>
                  <a:txBody>
                    <a:bodyPr wrap="square"/>
                    <a:lstStyle/>
                    <a:p>
                      <a:r>
                        <a:rPr sz="1600" b="0">
                          <a:solidFill>
                            <a:srgbClr val="22303F"/>
                          </a:solidFill>
                          <a:latin typeface="Calibri"/>
                        </a:rPr>
                        <a:t>BCNF</a:t>
                      </a:r>
                    </a:p>
                  </a:txBody>
                  <a:tcPr anchor="ctr" marL="73152" marR="73152">
                    <a:solidFill>
                      <a:srgbClr val="E3E8D6"/>
                    </a:solidFill>
                  </a:tcPr>
                </a:tc>
              </a:tr>
              <a:tr h="496388">
                <a:tc>
                  <a:txBody>
                    <a:bodyPr wrap="square"/>
                    <a:lstStyle/>
                    <a:p>
                      <a:r>
                        <a:rPr sz="1600" b="1">
                          <a:solidFill>
                            <a:srgbClr val="22303F"/>
                          </a:solidFill>
                          <a:latin typeface="Calibri"/>
                        </a:rPr>
                        <a:t>ROOMS</a:t>
                      </a:r>
                    </a:p>
                  </a:txBody>
                  <a:tcPr anchor="ctr" marL="73152" marR="73152">
                    <a:solidFill>
                      <a:srgbClr val="FFFFFF"/>
                    </a:solidFill>
                  </a:tcPr>
                </a:tc>
                <a:tc>
                  <a:txBody>
                    <a:bodyPr wrap="square"/>
                    <a:lstStyle/>
                    <a:p>
                      <a:r>
                        <a:rPr sz="1600" b="0">
                          <a:solidFill>
                            <a:srgbClr val="22303F"/>
                          </a:solidFill>
                          <a:latin typeface="Calibri"/>
                        </a:rPr>
                        <a:t>room_id → all  ;  room_number → all</a:t>
                      </a:r>
                    </a:p>
                  </a:txBody>
                  <a:tcPr anchor="ctr" marL="73152" marR="73152">
                    <a:solidFill>
                      <a:srgbClr val="FFFFFF"/>
                    </a:solidFill>
                  </a:tcPr>
                </a:tc>
                <a:tc>
                  <a:txBody>
                    <a:bodyPr wrap="square"/>
                    <a:lstStyle/>
                    <a:p>
                      <a:r>
                        <a:rPr sz="1600" b="0">
                          <a:solidFill>
                            <a:srgbClr val="22303F"/>
                          </a:solidFill>
                          <a:latin typeface="Calibri"/>
                        </a:rPr>
                        <a:t>BCNF</a:t>
                      </a:r>
                    </a:p>
                  </a:txBody>
                  <a:tcPr anchor="ctr" marL="73152" marR="73152">
                    <a:solidFill>
                      <a:srgbClr val="FFFFFF"/>
                    </a:solidFill>
                  </a:tcPr>
                </a:tc>
              </a:tr>
              <a:tr h="496388">
                <a:tc>
                  <a:txBody>
                    <a:bodyPr wrap="square"/>
                    <a:lstStyle/>
                    <a:p>
                      <a:r>
                        <a:rPr sz="1600" b="1">
                          <a:solidFill>
                            <a:srgbClr val="22303F"/>
                          </a:solidFill>
                          <a:latin typeface="Calibri"/>
                        </a:rPr>
                        <a:t>GUESTS</a:t>
                      </a:r>
                    </a:p>
                  </a:txBody>
                  <a:tcPr anchor="ctr" marL="73152" marR="73152">
                    <a:solidFill>
                      <a:srgbClr val="E3E8D6"/>
                    </a:solidFill>
                  </a:tcPr>
                </a:tc>
                <a:tc>
                  <a:txBody>
                    <a:bodyPr wrap="square"/>
                    <a:lstStyle/>
                    <a:p>
                      <a:r>
                        <a:rPr sz="1600" b="0">
                          <a:solidFill>
                            <a:srgbClr val="22303F"/>
                          </a:solidFill>
                          <a:latin typeface="Calibri"/>
                        </a:rPr>
                        <a:t>guest_id → all  ;  phone → all  ;  (id_proof, id_number) → all</a:t>
                      </a:r>
                    </a:p>
                  </a:txBody>
                  <a:tcPr anchor="ctr" marL="73152" marR="73152">
                    <a:solidFill>
                      <a:srgbClr val="E3E8D6"/>
                    </a:solidFill>
                  </a:tcPr>
                </a:tc>
                <a:tc>
                  <a:txBody>
                    <a:bodyPr wrap="square"/>
                    <a:lstStyle/>
                    <a:p>
                      <a:r>
                        <a:rPr sz="1600" b="0">
                          <a:solidFill>
                            <a:srgbClr val="22303F"/>
                          </a:solidFill>
                          <a:latin typeface="Calibri"/>
                        </a:rPr>
                        <a:t>BCNF</a:t>
                      </a:r>
                    </a:p>
                  </a:txBody>
                  <a:tcPr anchor="ctr" marL="73152" marR="73152">
                    <a:solidFill>
                      <a:srgbClr val="E3E8D6"/>
                    </a:solidFill>
                  </a:tcPr>
                </a:tc>
              </a:tr>
              <a:tr h="496388">
                <a:tc>
                  <a:txBody>
                    <a:bodyPr wrap="square"/>
                    <a:lstStyle/>
                    <a:p>
                      <a:r>
                        <a:rPr sz="1600" b="1">
                          <a:solidFill>
                            <a:srgbClr val="22303F"/>
                          </a:solidFill>
                          <a:latin typeface="Calibri"/>
                        </a:rPr>
                        <a:t>BOOKINGS</a:t>
                      </a:r>
                    </a:p>
                  </a:txBody>
                  <a:tcPr anchor="ctr" marL="73152" marR="73152">
                    <a:solidFill>
                      <a:srgbClr val="FFFFFF"/>
                    </a:solidFill>
                  </a:tcPr>
                </a:tc>
                <a:tc>
                  <a:txBody>
                    <a:bodyPr wrap="square"/>
                    <a:lstStyle/>
                    <a:p>
                      <a:r>
                        <a:rPr sz="1600" b="0">
                          <a:solidFill>
                            <a:srgbClr val="22303F"/>
                          </a:solidFill>
                          <a:latin typeface="Calibri"/>
                        </a:rPr>
                        <a:t>booking_id → all</a:t>
                      </a:r>
                    </a:p>
                  </a:txBody>
                  <a:tcPr anchor="ctr" marL="73152" marR="73152">
                    <a:solidFill>
                      <a:srgbClr val="FFFFFF"/>
                    </a:solidFill>
                  </a:tcPr>
                </a:tc>
                <a:tc>
                  <a:txBody>
                    <a:bodyPr wrap="square"/>
                    <a:lstStyle/>
                    <a:p>
                      <a:r>
                        <a:rPr sz="1600" b="0">
                          <a:solidFill>
                            <a:srgbClr val="22303F"/>
                          </a:solidFill>
                          <a:latin typeface="Calibri"/>
                        </a:rPr>
                        <a:t>BCNF</a:t>
                      </a:r>
                    </a:p>
                  </a:txBody>
                  <a:tcPr anchor="ctr" marL="73152" marR="73152">
                    <a:solidFill>
                      <a:srgbClr val="FFFFFF"/>
                    </a:solidFill>
                  </a:tcPr>
                </a:tc>
              </a:tr>
              <a:tr h="496392">
                <a:tc>
                  <a:txBody>
                    <a:bodyPr wrap="square"/>
                    <a:lstStyle/>
                    <a:p>
                      <a:r>
                        <a:rPr sz="1600" b="1">
                          <a:solidFill>
                            <a:srgbClr val="22303F"/>
                          </a:solidFill>
                          <a:latin typeface="Calibri"/>
                        </a:rPr>
                        <a:t>PAYMENTS</a:t>
                      </a:r>
                    </a:p>
                  </a:txBody>
                  <a:tcPr anchor="ctr" marL="73152" marR="73152">
                    <a:solidFill>
                      <a:srgbClr val="E3E8D6"/>
                    </a:solidFill>
                  </a:tcPr>
                </a:tc>
                <a:tc>
                  <a:txBody>
                    <a:bodyPr wrap="square"/>
                    <a:lstStyle/>
                    <a:p>
                      <a:r>
                        <a:rPr sz="1600" b="0">
                          <a:solidFill>
                            <a:srgbClr val="22303F"/>
                          </a:solidFill>
                          <a:latin typeface="Calibri"/>
                        </a:rPr>
                        <a:t>payment_id → all</a:t>
                      </a:r>
                    </a:p>
                  </a:txBody>
                  <a:tcPr anchor="ctr" marL="73152" marR="73152">
                    <a:solidFill>
                      <a:srgbClr val="E3E8D6"/>
                    </a:solidFill>
                  </a:tcPr>
                </a:tc>
                <a:tc>
                  <a:txBody>
                    <a:bodyPr wrap="square"/>
                    <a:lstStyle/>
                    <a:p>
                      <a:r>
                        <a:rPr sz="1600" b="0">
                          <a:solidFill>
                            <a:srgbClr val="22303F"/>
                          </a:solidFill>
                          <a:latin typeface="Calibri"/>
                        </a:rPr>
                        <a:t>BCNF</a:t>
                      </a:r>
                    </a:p>
                  </a:txBody>
                  <a:tcPr anchor="ctr" marL="73152" marR="73152">
                    <a:solidFill>
                      <a:srgbClr val="E3E8D6"/>
                    </a:solidFill>
                  </a:tcPr>
                </a:tc>
              </a:tr>
            </a:tbl>
          </a:graphicData>
        </a:graphic>
      </p:graphicFrame>
      <p:sp>
        <p:nvSpPr>
          <p:cNvPr id="9" name="Rounded Rectangle 8"/>
          <p:cNvSpPr/>
          <p:nvPr/>
        </p:nvSpPr>
        <p:spPr>
          <a:xfrm>
            <a:off x="548640" y="5349240"/>
            <a:ext cx="11109960" cy="960120"/>
          </a:xfrm>
          <a:prstGeom prst="roundRect">
            <a:avLst>
              <a:gd name="adj" fmla="val 6000"/>
            </a:avLst>
          </a:prstGeom>
          <a:solidFill>
            <a:srgbClr val="E3E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5376672"/>
            <a:ext cx="10744200" cy="914400"/>
          </a:xfrm>
          <a:prstGeom prst="rect">
            <a:avLst/>
          </a:prstGeom>
          <a:noFill/>
        </p:spPr>
        <p:txBody>
          <a:bodyPr wrap="square" anchor="ctr" lIns="45720" rIns="45720" tIns="27432" bIns="27432">
            <a:spAutoFit/>
          </a:bodyPr>
          <a:lstStyle/>
          <a:p>
            <a:pPr algn="l">
              <a:lnSpc>
                <a:spcPct val="100000"/>
              </a:lnSpc>
              <a:spcAft>
                <a:spcPts val="600"/>
              </a:spcAft>
            </a:pPr>
            <a:r>
              <a:rPr b="1" sz="1500">
                <a:solidFill>
                  <a:srgbClr val="22303F"/>
                </a:solidFill>
                <a:latin typeface="Calibri"/>
              </a:rPr>
              <a:t>BCNF check</a:t>
            </a:r>
            <a:r>
              <a:rPr sz="1500">
                <a:solidFill>
                  <a:srgbClr val="22303F"/>
                </a:solidFill>
                <a:latin typeface="Calibri"/>
              </a:rPr>
              <a:t>  in every relation each determinant (primary key, or a UNIQUE column such as phone or room_number) is a candidate key, so the dependencies above are the only ones and BCNF holds.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Advanced SQL &amp; Query Design</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SQL operations used in the Hotel Management System</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8</a:t>
            </a:r>
          </a:p>
        </p:txBody>
      </p:sp>
      <p:sp>
        <p:nvSpPr>
          <p:cNvPr id="8" name="Rounded Rectangle 7"/>
          <p:cNvSpPr/>
          <p:nvPr/>
        </p:nvSpPr>
        <p:spPr>
          <a:xfrm>
            <a:off x="548640" y="1600200"/>
            <a:ext cx="5486400" cy="470916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691640"/>
            <a:ext cx="5120640" cy="4526280"/>
          </a:xfrm>
          <a:prstGeom prst="rect">
            <a:avLst/>
          </a:prstGeom>
          <a:noFill/>
        </p:spPr>
        <p:txBody>
          <a:bodyPr wrap="square" anchor="t" lIns="45720" rIns="45720" tIns="27432" bIns="27432">
            <a:spAutoFit/>
          </a:bodyPr>
          <a:lstStyle/>
          <a:p>
            <a:pPr algn="l" marL="201168" indent="-201168">
              <a:lnSpc>
                <a:spcPct val="100000"/>
              </a:lnSpc>
              <a:spcAft>
                <a:spcPts val="700"/>
              </a:spcAft>
              <a:buChar char="•"/>
            </a:pPr>
            <a:r>
              <a:rPr b="1" sz="1450">
                <a:solidFill>
                  <a:srgbClr val="22303F"/>
                </a:solidFill>
                <a:latin typeface="Calibri"/>
              </a:rPr>
              <a:t>JOIN</a:t>
            </a:r>
            <a:r>
              <a:rPr sz="1450">
                <a:solidFill>
                  <a:srgbClr val="22303F"/>
                </a:solidFill>
                <a:latin typeface="Calibri"/>
              </a:rPr>
              <a:t>  – retrieves booking, guest, room and room-type data from several tables.</a:t>
            </a:r>
          </a:p>
          <a:p>
            <a:pPr algn="l" marL="201168" indent="-201168">
              <a:lnSpc>
                <a:spcPct val="100000"/>
              </a:lnSpc>
              <a:spcAft>
                <a:spcPts val="700"/>
              </a:spcAft>
              <a:buChar char="•"/>
            </a:pPr>
            <a:r>
              <a:rPr b="1" sz="1450">
                <a:solidFill>
                  <a:srgbClr val="22303F"/>
                </a:solidFill>
                <a:latin typeface="Calibri"/>
              </a:rPr>
              <a:t>Subqueries</a:t>
            </a:r>
            <a:r>
              <a:rPr sz="1450">
                <a:solidFill>
                  <a:srgbClr val="22303F"/>
                </a:solidFill>
                <a:latin typeface="Calibri"/>
              </a:rPr>
              <a:t>  – NOT IN finds free rooms; correlated EXISTS finds guests who owe money.</a:t>
            </a:r>
          </a:p>
          <a:p>
            <a:pPr algn="l" marL="201168" indent="-201168">
              <a:lnSpc>
                <a:spcPct val="100000"/>
              </a:lnSpc>
              <a:spcAft>
                <a:spcPts val="700"/>
              </a:spcAft>
              <a:buChar char="•"/>
            </a:pPr>
            <a:r>
              <a:rPr b="1" sz="1450">
                <a:solidFill>
                  <a:srgbClr val="22303F"/>
                </a:solidFill>
                <a:latin typeface="Calibri"/>
              </a:rPr>
              <a:t>Aggregate functions</a:t>
            </a:r>
            <a:r>
              <a:rPr sz="1450">
                <a:solidFill>
                  <a:srgbClr val="22303F"/>
                </a:solidFill>
                <a:latin typeface="Calibri"/>
              </a:rPr>
              <a:t>  – SUM, COUNT and AVG for revenue, occupancy and record counts.</a:t>
            </a:r>
          </a:p>
          <a:p>
            <a:pPr algn="l" marL="201168" indent="-201168">
              <a:lnSpc>
                <a:spcPct val="100000"/>
              </a:lnSpc>
              <a:spcAft>
                <a:spcPts val="700"/>
              </a:spcAft>
              <a:buChar char="•"/>
            </a:pPr>
            <a:r>
              <a:rPr b="1" sz="1450">
                <a:solidFill>
                  <a:srgbClr val="22303F"/>
                </a:solidFill>
                <a:latin typeface="Calibri"/>
              </a:rPr>
              <a:t>GROUP BY / HAVING</a:t>
            </a:r>
            <a:r>
              <a:rPr sz="1450">
                <a:solidFill>
                  <a:srgbClr val="22303F"/>
                </a:solidFill>
                <a:latin typeface="Calibri"/>
              </a:rPr>
              <a:t>  – groups payments by room type or bookings by guest and filters the groups.</a:t>
            </a:r>
          </a:p>
          <a:p>
            <a:pPr algn="l" marL="201168" indent="-201168">
              <a:lnSpc>
                <a:spcPct val="100000"/>
              </a:lnSpc>
              <a:spcAft>
                <a:spcPts val="700"/>
              </a:spcAft>
              <a:buChar char="•"/>
            </a:pPr>
            <a:r>
              <a:rPr b="1" sz="1450">
                <a:solidFill>
                  <a:srgbClr val="22303F"/>
                </a:solidFill>
                <a:latin typeface="Calibri"/>
              </a:rPr>
              <a:t>ORDER BY</a:t>
            </a:r>
            <a:r>
              <a:rPr sz="1450">
                <a:solidFill>
                  <a:srgbClr val="22303F"/>
                </a:solidFill>
                <a:latin typeface="Calibri"/>
              </a:rPr>
              <a:t>  – sorts bookings, revenue and room lists.</a:t>
            </a:r>
          </a:p>
          <a:p>
            <a:pPr algn="l" marL="201168" indent="-201168">
              <a:lnSpc>
                <a:spcPct val="100000"/>
              </a:lnSpc>
              <a:spcAft>
                <a:spcPts val="700"/>
              </a:spcAft>
              <a:buChar char="•"/>
            </a:pPr>
            <a:r>
              <a:rPr b="1" sz="1450">
                <a:solidFill>
                  <a:srgbClr val="22303F"/>
                </a:solidFill>
                <a:latin typeface="Calibri"/>
              </a:rPr>
              <a:t>INSERT, UPDATE, DELETE</a:t>
            </a:r>
            <a:r>
              <a:rPr sz="1450">
                <a:solidFill>
                  <a:srgbClr val="22303F"/>
                </a:solidFill>
                <a:latin typeface="Calibri"/>
              </a:rPr>
              <a:t>  – adds and modifies guests, bookings and payments.</a:t>
            </a:r>
          </a:p>
          <a:p>
            <a:pPr algn="l" marL="201168" indent="-201168">
              <a:lnSpc>
                <a:spcPct val="100000"/>
              </a:lnSpc>
              <a:spcAft>
                <a:spcPts val="700"/>
              </a:spcAft>
              <a:buChar char="•"/>
            </a:pPr>
            <a:r>
              <a:rPr b="1" sz="1450">
                <a:solidFill>
                  <a:srgbClr val="22303F"/>
                </a:solidFill>
                <a:latin typeface="Calibri"/>
              </a:rPr>
              <a:t>Views, procedures, triggers</a:t>
            </a:r>
            <a:r>
              <a:rPr sz="1450">
                <a:solidFill>
                  <a:srgbClr val="22303F"/>
                </a:solidFill>
                <a:latin typeface="Calibri"/>
              </a:rPr>
              <a:t>  – vw_booking_details, sp_generate_bill and the room-status triggers.</a:t>
            </a:r>
          </a:p>
          <a:p>
            <a:pPr algn="l" marL="201168" indent="-201168">
              <a:lnSpc>
                <a:spcPct val="100000"/>
              </a:lnSpc>
              <a:spcAft>
                <a:spcPts val="700"/>
              </a:spcAft>
              <a:buChar char="•"/>
            </a:pPr>
            <a:r>
              <a:rPr b="1" sz="1450">
                <a:solidFill>
                  <a:srgbClr val="22303F"/>
                </a:solidFill>
                <a:latin typeface="Calibri"/>
              </a:rPr>
              <a:t>Parameterized queries</a:t>
            </a:r>
            <a:r>
              <a:rPr sz="1450">
                <a:solidFill>
                  <a:srgbClr val="22303F"/>
                </a:solidFill>
                <a:latin typeface="Calibri"/>
              </a:rPr>
              <a:t>  – connect the Tkinter app with MySQL safely (%s placeholders).</a:t>
            </a:r>
          </a:p>
        </p:txBody>
      </p:sp>
      <p:sp>
        <p:nvSpPr>
          <p:cNvPr id="10" name="Rounded Rectangle 9"/>
          <p:cNvSpPr/>
          <p:nvPr/>
        </p:nvSpPr>
        <p:spPr>
          <a:xfrm>
            <a:off x="6309360" y="1600200"/>
            <a:ext cx="5349240" cy="470916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309360" y="1600200"/>
            <a:ext cx="5349240" cy="502920"/>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1618488"/>
            <a:ext cx="4937760" cy="45720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Example: Revenue by Room Type</a:t>
            </a:r>
          </a:p>
        </p:txBody>
      </p:sp>
      <p:sp>
        <p:nvSpPr>
          <p:cNvPr id="13" name="TextBox 12"/>
          <p:cNvSpPr txBox="1"/>
          <p:nvPr/>
        </p:nvSpPr>
        <p:spPr>
          <a:xfrm>
            <a:off x="6492240" y="2286000"/>
            <a:ext cx="5029200" cy="2926080"/>
          </a:xfrm>
          <a:prstGeom prst="rect">
            <a:avLst/>
          </a:prstGeom>
          <a:noFill/>
        </p:spPr>
        <p:txBody>
          <a:bodyPr wrap="square" anchor="t" lIns="45720" rIns="45720" tIns="27432" bIns="27432">
            <a:spAutoFit/>
          </a:bodyPr>
          <a:lstStyle/>
          <a:p>
            <a:pPr algn="l">
              <a:lnSpc>
                <a:spcPct val="100000"/>
              </a:lnSpc>
              <a:spcAft>
                <a:spcPts val="200"/>
              </a:spcAft>
            </a:pPr>
            <a:r>
              <a:rPr sz="1300" b="0">
                <a:solidFill>
                  <a:srgbClr val="22303F"/>
                </a:solidFill>
                <a:latin typeface="Consolas"/>
              </a:rPr>
              <a:t>SELECT rt.room_type_name,</a:t>
            </a:r>
          </a:p>
          <a:p>
            <a:pPr algn="l">
              <a:lnSpc>
                <a:spcPct val="100000"/>
              </a:lnSpc>
              <a:spcAft>
                <a:spcPts val="200"/>
              </a:spcAft>
            </a:pPr>
            <a:r>
              <a:rPr sz="1300" b="0">
                <a:solidFill>
                  <a:srgbClr val="22303F"/>
                </a:solidFill>
                <a:latin typeface="Consolas"/>
              </a:rPr>
              <a:t>       SUM(p.amount) AS revenue</a:t>
            </a:r>
          </a:p>
          <a:p>
            <a:pPr algn="l">
              <a:lnSpc>
                <a:spcPct val="100000"/>
              </a:lnSpc>
              <a:spcAft>
                <a:spcPts val="200"/>
              </a:spcAft>
            </a:pPr>
            <a:r>
              <a:rPr sz="1300" b="0">
                <a:solidFill>
                  <a:srgbClr val="22303F"/>
                </a:solidFill>
                <a:latin typeface="Consolas"/>
              </a:rPr>
              <a:t>FROM payments p</a:t>
            </a:r>
          </a:p>
          <a:p>
            <a:pPr algn="l">
              <a:lnSpc>
                <a:spcPct val="100000"/>
              </a:lnSpc>
              <a:spcAft>
                <a:spcPts val="200"/>
              </a:spcAft>
            </a:pPr>
            <a:r>
              <a:rPr sz="1300" b="0">
                <a:solidFill>
                  <a:srgbClr val="22303F"/>
                </a:solidFill>
                <a:latin typeface="Consolas"/>
              </a:rPr>
              <a:t>JOIN bookings b   ON p.booking_id = b.booking_id</a:t>
            </a:r>
          </a:p>
          <a:p>
            <a:pPr algn="l">
              <a:lnSpc>
                <a:spcPct val="100000"/>
              </a:lnSpc>
              <a:spcAft>
                <a:spcPts val="200"/>
              </a:spcAft>
            </a:pPr>
            <a:r>
              <a:rPr sz="1300" b="0">
                <a:solidFill>
                  <a:srgbClr val="22303F"/>
                </a:solidFill>
                <a:latin typeface="Consolas"/>
              </a:rPr>
              <a:t>JOIN rooms r      ON b.room_id = r.room_id</a:t>
            </a:r>
          </a:p>
          <a:p>
            <a:pPr algn="l">
              <a:lnSpc>
                <a:spcPct val="100000"/>
              </a:lnSpc>
              <a:spcAft>
                <a:spcPts val="200"/>
              </a:spcAft>
            </a:pPr>
            <a:r>
              <a:rPr sz="1300" b="0">
                <a:solidFill>
                  <a:srgbClr val="22303F"/>
                </a:solidFill>
                <a:latin typeface="Consolas"/>
              </a:rPr>
              <a:t>JOIN room_types rt</a:t>
            </a:r>
          </a:p>
          <a:p>
            <a:pPr algn="l">
              <a:lnSpc>
                <a:spcPct val="100000"/>
              </a:lnSpc>
              <a:spcAft>
                <a:spcPts val="200"/>
              </a:spcAft>
            </a:pPr>
            <a:r>
              <a:rPr sz="1300" b="0">
                <a:solidFill>
                  <a:srgbClr val="22303F"/>
                </a:solidFill>
                <a:latin typeface="Consolas"/>
              </a:rPr>
              <a:t>     ON r.room_type_id = rt.room_type_id</a:t>
            </a:r>
          </a:p>
          <a:p>
            <a:pPr algn="l">
              <a:lnSpc>
                <a:spcPct val="100000"/>
              </a:lnSpc>
              <a:spcAft>
                <a:spcPts val="200"/>
              </a:spcAft>
            </a:pPr>
            <a:r>
              <a:rPr sz="1300" b="0">
                <a:solidFill>
                  <a:srgbClr val="22303F"/>
                </a:solidFill>
                <a:latin typeface="Consolas"/>
              </a:rPr>
              <a:t>WHERE p.payment_status = 'Paid'</a:t>
            </a:r>
          </a:p>
          <a:p>
            <a:pPr algn="l">
              <a:lnSpc>
                <a:spcPct val="100000"/>
              </a:lnSpc>
              <a:spcAft>
                <a:spcPts val="200"/>
              </a:spcAft>
            </a:pPr>
            <a:r>
              <a:rPr sz="1300" b="0">
                <a:solidFill>
                  <a:srgbClr val="22303F"/>
                </a:solidFill>
                <a:latin typeface="Consolas"/>
              </a:rPr>
              <a:t>GROUP BY rt.room_type_name</a:t>
            </a:r>
          </a:p>
          <a:p>
            <a:pPr algn="l">
              <a:lnSpc>
                <a:spcPct val="100000"/>
              </a:lnSpc>
              <a:spcAft>
                <a:spcPts val="200"/>
              </a:spcAft>
            </a:pPr>
            <a:r>
              <a:rPr sz="1300" b="0">
                <a:solidFill>
                  <a:srgbClr val="22303F"/>
                </a:solidFill>
                <a:latin typeface="Consolas"/>
              </a:rPr>
              <a:t>HAVING SUM(p.amount) &gt; 5000</a:t>
            </a:r>
          </a:p>
          <a:p>
            <a:pPr algn="l">
              <a:lnSpc>
                <a:spcPct val="100000"/>
              </a:lnSpc>
              <a:spcAft>
                <a:spcPts val="200"/>
              </a:spcAft>
            </a:pPr>
            <a:r>
              <a:rPr sz="1300" b="0">
                <a:solidFill>
                  <a:srgbClr val="22303F"/>
                </a:solidFill>
                <a:latin typeface="Consolas"/>
              </a:rPr>
              <a:t>ORDER BY revenue DESC;</a:t>
            </a:r>
          </a:p>
        </p:txBody>
      </p:sp>
      <p:sp>
        <p:nvSpPr>
          <p:cNvPr id="14" name="TextBox 13"/>
          <p:cNvSpPr txBox="1"/>
          <p:nvPr/>
        </p:nvSpPr>
        <p:spPr>
          <a:xfrm>
            <a:off x="6492240" y="5440680"/>
            <a:ext cx="5029200" cy="822960"/>
          </a:xfrm>
          <a:prstGeom prst="rect">
            <a:avLst/>
          </a:prstGeom>
          <a:noFill/>
        </p:spPr>
        <p:txBody>
          <a:bodyPr wrap="square" anchor="t" lIns="45720" rIns="45720" tIns="27432" bIns="27432">
            <a:spAutoFit/>
          </a:bodyPr>
          <a:lstStyle/>
          <a:p>
            <a:pPr algn="l">
              <a:lnSpc>
                <a:spcPct val="100000"/>
              </a:lnSpc>
              <a:spcAft>
                <a:spcPts val="600"/>
              </a:spcAft>
            </a:pPr>
            <a:r>
              <a:rPr sz="1350" b="0">
                <a:solidFill>
                  <a:srgbClr val="6B7C8F"/>
                </a:solidFill>
                <a:latin typeface="Calibri"/>
              </a:rPr>
              <a:t>Joins four tables, keeps only paid payments, groups by room type and shows the types that earned more than Rs 5,000.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DBMS Concept Mapping</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Where each DBMS concept appears in the Hotel Management System</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9</a:t>
            </a:r>
          </a:p>
        </p:txBody>
      </p:sp>
      <p:graphicFrame>
        <p:nvGraphicFramePr>
          <p:cNvPr id="8" name="Table 7"/>
          <p:cNvGraphicFramePr>
            <a:graphicFrameLocks noGrp="1"/>
          </p:cNvGraphicFramePr>
          <p:nvPr/>
        </p:nvGraphicFramePr>
        <p:xfrm>
          <a:off x="548640" y="1600200"/>
          <a:ext cx="11109960" cy="4572000"/>
        </p:xfrm>
        <a:graphic>
          <a:graphicData uri="http://schemas.openxmlformats.org/drawingml/2006/table">
            <a:tbl>
              <a:tblPr firstRow="1" bandRow="1">
                <a:tableStyleId>{5C22544A-7EE6-4342-B048-85BDC9FD1C3A}</a:tableStyleId>
              </a:tblPr>
              <a:tblGrid>
                <a:gridCol w="5486400"/>
                <a:gridCol w="5623560"/>
              </a:tblGrid>
              <a:tr h="381000">
                <a:tc>
                  <a:txBody>
                    <a:bodyPr/>
                    <a:lstStyle/>
                    <a:p>
                      <a:pPr algn="ctr"/>
                      <a:r>
                        <a:rPr sz="1500" b="1">
                          <a:solidFill>
                            <a:srgbClr val="FFFFFF"/>
                          </a:solidFill>
                          <a:latin typeface="Calibri"/>
                        </a:rPr>
                        <a:t>Hotel Management Function</a:t>
                      </a:r>
                    </a:p>
                  </a:txBody>
                  <a:tcPr anchor="ctr">
                    <a:solidFill>
                      <a:srgbClr val="334F43"/>
                    </a:solidFill>
                  </a:tcPr>
                </a:tc>
                <a:tc>
                  <a:txBody>
                    <a:bodyPr/>
                    <a:lstStyle/>
                    <a:p>
                      <a:pPr algn="ctr"/>
                      <a:r>
                        <a:rPr sz="1500" b="1">
                          <a:solidFill>
                            <a:srgbClr val="FFFFFF"/>
                          </a:solidFill>
                          <a:latin typeface="Calibri"/>
                        </a:rPr>
                        <a:t>DBMS Concept</a:t>
                      </a:r>
                    </a:p>
                  </a:txBody>
                  <a:tcPr anchor="ctr">
                    <a:solidFill>
                      <a:srgbClr val="334F43"/>
                    </a:solidFill>
                  </a:tcPr>
                </a:tc>
              </a:tr>
              <a:tr h="381000">
                <a:tc>
                  <a:txBody>
                    <a:bodyPr/>
                    <a:lstStyle/>
                    <a:p>
                      <a:pPr algn="ctr"/>
                      <a:r>
                        <a:rPr sz="1500" b="0">
                          <a:solidFill>
                            <a:srgbClr val="22303F"/>
                          </a:solidFill>
                          <a:latin typeface="Calibri"/>
                        </a:rPr>
                        <a:t>Guest registration</a:t>
                      </a:r>
                    </a:p>
                  </a:txBody>
                  <a:tcPr anchor="ctr">
                    <a:solidFill>
                      <a:srgbClr val="FFFFFF"/>
                    </a:solidFill>
                  </a:tcPr>
                </a:tc>
                <a:tc>
                  <a:txBody>
                    <a:bodyPr/>
                    <a:lstStyle/>
                    <a:p>
                      <a:pPr algn="ctr"/>
                      <a:r>
                        <a:rPr sz="1500" b="0">
                          <a:solidFill>
                            <a:srgbClr val="22303F"/>
                          </a:solidFill>
                          <a:latin typeface="Calibri"/>
                        </a:rPr>
                        <a:t>INSERT</a:t>
                      </a:r>
                    </a:p>
                  </a:txBody>
                  <a:tcPr anchor="ctr">
                    <a:solidFill>
                      <a:srgbClr val="FFFFFF"/>
                    </a:solidFill>
                  </a:tcPr>
                </a:tc>
              </a:tr>
              <a:tr h="381000">
                <a:tc>
                  <a:txBody>
                    <a:bodyPr/>
                    <a:lstStyle/>
                    <a:p>
                      <a:pPr algn="ctr"/>
                      <a:r>
                        <a:rPr sz="1500" b="0">
                          <a:solidFill>
                            <a:srgbClr val="22303F"/>
                          </a:solidFill>
                          <a:latin typeface="Calibri"/>
                        </a:rPr>
                        <a:t>Guest and room management</a:t>
                      </a:r>
                    </a:p>
                  </a:txBody>
                  <a:tcPr anchor="ctr">
                    <a:solidFill>
                      <a:srgbClr val="E3E8D6"/>
                    </a:solidFill>
                  </a:tcPr>
                </a:tc>
                <a:tc>
                  <a:txBody>
                    <a:bodyPr/>
                    <a:lstStyle/>
                    <a:p>
                      <a:pPr algn="ctr"/>
                      <a:r>
                        <a:rPr sz="1500" b="0">
                          <a:solidFill>
                            <a:srgbClr val="22303F"/>
                          </a:solidFill>
                          <a:latin typeface="Calibri"/>
                        </a:rPr>
                        <a:t>SELECT / UPDATE</a:t>
                      </a:r>
                    </a:p>
                  </a:txBody>
                  <a:tcPr anchor="ctr">
                    <a:solidFill>
                      <a:srgbClr val="E3E8D6"/>
                    </a:solidFill>
                  </a:tcPr>
                </a:tc>
              </a:tr>
              <a:tr h="381000">
                <a:tc>
                  <a:txBody>
                    <a:bodyPr/>
                    <a:lstStyle/>
                    <a:p>
                      <a:pPr algn="ctr"/>
                      <a:r>
                        <a:rPr sz="1500" b="0">
                          <a:solidFill>
                            <a:srgbClr val="22303F"/>
                          </a:solidFill>
                          <a:latin typeface="Calibri"/>
                        </a:rPr>
                        <a:t>Room booking</a:t>
                      </a:r>
                    </a:p>
                  </a:txBody>
                  <a:tcPr anchor="ctr">
                    <a:solidFill>
                      <a:srgbClr val="FFFFFF"/>
                    </a:solidFill>
                  </a:tcPr>
                </a:tc>
                <a:tc>
                  <a:txBody>
                    <a:bodyPr/>
                    <a:lstStyle/>
                    <a:p>
                      <a:pPr algn="ctr"/>
                      <a:r>
                        <a:rPr sz="1500" b="0">
                          <a:solidFill>
                            <a:srgbClr val="22303F"/>
                          </a:solidFill>
                          <a:latin typeface="Calibri"/>
                        </a:rPr>
                        <a:t>INSERT / SELECT</a:t>
                      </a:r>
                    </a:p>
                  </a:txBody>
                  <a:tcPr anchor="ctr">
                    <a:solidFill>
                      <a:srgbClr val="FFFFFF"/>
                    </a:solidFill>
                  </a:tcPr>
                </a:tc>
              </a:tr>
              <a:tr h="381000">
                <a:tc>
                  <a:txBody>
                    <a:bodyPr/>
                    <a:lstStyle/>
                    <a:p>
                      <a:pPr algn="ctr"/>
                      <a:r>
                        <a:rPr sz="1500" b="0">
                          <a:solidFill>
                            <a:srgbClr val="22303F"/>
                          </a:solidFill>
                          <a:latin typeface="Calibri"/>
                        </a:rPr>
                        <a:t>Booking details (guest, room, tariff)</a:t>
                      </a:r>
                    </a:p>
                  </a:txBody>
                  <a:tcPr anchor="ctr">
                    <a:solidFill>
                      <a:srgbClr val="E3E8D6"/>
                    </a:solidFill>
                  </a:tcPr>
                </a:tc>
                <a:tc>
                  <a:txBody>
                    <a:bodyPr/>
                    <a:lstStyle/>
                    <a:p>
                      <a:pPr algn="ctr"/>
                      <a:r>
                        <a:rPr sz="1500" b="0">
                          <a:solidFill>
                            <a:srgbClr val="22303F"/>
                          </a:solidFill>
                          <a:latin typeface="Calibri"/>
                        </a:rPr>
                        <a:t>JOIN (4 tables)</a:t>
                      </a:r>
                    </a:p>
                  </a:txBody>
                  <a:tcPr anchor="ctr">
                    <a:solidFill>
                      <a:srgbClr val="E3E8D6"/>
                    </a:solidFill>
                  </a:tcPr>
                </a:tc>
              </a:tr>
              <a:tr h="381000">
                <a:tc>
                  <a:txBody>
                    <a:bodyPr/>
                    <a:lstStyle/>
                    <a:p>
                      <a:pPr algn="ctr"/>
                      <a:r>
                        <a:rPr sz="1500" b="0">
                          <a:solidFill>
                            <a:srgbClr val="22303F"/>
                          </a:solidFill>
                          <a:latin typeface="Calibri"/>
                        </a:rPr>
                        <a:t>Room availability for given dates</a:t>
                      </a:r>
                    </a:p>
                  </a:txBody>
                  <a:tcPr anchor="ctr">
                    <a:solidFill>
                      <a:srgbClr val="FFFFFF"/>
                    </a:solidFill>
                  </a:tcPr>
                </a:tc>
                <a:tc>
                  <a:txBody>
                    <a:bodyPr/>
                    <a:lstStyle/>
                    <a:p>
                      <a:pPr algn="ctr"/>
                      <a:r>
                        <a:rPr sz="1500" b="0">
                          <a:solidFill>
                            <a:srgbClr val="22303F"/>
                          </a:solidFill>
                          <a:latin typeface="Calibri"/>
                        </a:rPr>
                        <a:t>Subquery (NOT IN) / date-overlap condition</a:t>
                      </a:r>
                    </a:p>
                  </a:txBody>
                  <a:tcPr anchor="ctr">
                    <a:solidFill>
                      <a:srgbClr val="FFFFFF"/>
                    </a:solidFill>
                  </a:tcPr>
                </a:tc>
              </a:tr>
              <a:tr h="381000">
                <a:tc>
                  <a:txBody>
                    <a:bodyPr/>
                    <a:lstStyle/>
                    <a:p>
                      <a:pPr algn="ctr"/>
                      <a:r>
                        <a:rPr sz="1500" b="0">
                          <a:solidFill>
                            <a:srgbClr val="22303F"/>
                          </a:solidFill>
                          <a:latin typeface="Calibri"/>
                        </a:rPr>
                        <a:t>Data validation</a:t>
                      </a:r>
                    </a:p>
                  </a:txBody>
                  <a:tcPr anchor="ctr">
                    <a:solidFill>
                      <a:srgbClr val="E3E8D6"/>
                    </a:solidFill>
                  </a:tcPr>
                </a:tc>
                <a:tc>
                  <a:txBody>
                    <a:bodyPr/>
                    <a:lstStyle/>
                    <a:p>
                      <a:pPr algn="ctr"/>
                      <a:r>
                        <a:rPr sz="1500" b="0">
                          <a:solidFill>
                            <a:srgbClr val="22303F"/>
                          </a:solidFill>
                          <a:latin typeface="Calibri"/>
                        </a:rPr>
                        <a:t>CHECK / ENUM / NOT NULL constraints</a:t>
                      </a:r>
                    </a:p>
                  </a:txBody>
                  <a:tcPr anchor="ctr">
                    <a:solidFill>
                      <a:srgbClr val="E3E8D6"/>
                    </a:solidFill>
                  </a:tcPr>
                </a:tc>
              </a:tr>
              <a:tr h="381000">
                <a:tc>
                  <a:txBody>
                    <a:bodyPr/>
                    <a:lstStyle/>
                    <a:p>
                      <a:pPr algn="ctr"/>
                      <a:r>
                        <a:rPr sz="1500" b="0">
                          <a:solidFill>
                            <a:srgbClr val="22303F"/>
                          </a:solidFill>
                          <a:latin typeface="Calibri"/>
                        </a:rPr>
                        <a:t>Unique guest and room details</a:t>
                      </a:r>
                    </a:p>
                  </a:txBody>
                  <a:tcPr anchor="ctr">
                    <a:solidFill>
                      <a:srgbClr val="FFFFFF"/>
                    </a:solidFill>
                  </a:tcPr>
                </a:tc>
                <a:tc>
                  <a:txBody>
                    <a:bodyPr/>
                    <a:lstStyle/>
                    <a:p>
                      <a:pPr algn="ctr"/>
                      <a:r>
                        <a:rPr sz="1500" b="0">
                          <a:solidFill>
                            <a:srgbClr val="22303F"/>
                          </a:solidFill>
                          <a:latin typeface="Calibri"/>
                        </a:rPr>
                        <a:t>UNIQUE constraint</a:t>
                      </a:r>
                    </a:p>
                  </a:txBody>
                  <a:tcPr anchor="ctr">
                    <a:solidFill>
                      <a:srgbClr val="FFFFFF"/>
                    </a:solidFill>
                  </a:tcPr>
                </a:tc>
              </a:tr>
              <a:tr h="381000">
                <a:tc>
                  <a:txBody>
                    <a:bodyPr/>
                    <a:lstStyle/>
                    <a:p>
                      <a:pPr algn="ctr"/>
                      <a:r>
                        <a:rPr sz="1500" b="0">
                          <a:solidFill>
                            <a:srgbClr val="22303F"/>
                          </a:solidFill>
                          <a:latin typeface="Calibri"/>
                        </a:rPr>
                        <a:t>Entity relationships</a:t>
                      </a:r>
                    </a:p>
                  </a:txBody>
                  <a:tcPr anchor="ctr">
                    <a:solidFill>
                      <a:srgbClr val="E3E8D6"/>
                    </a:solidFill>
                  </a:tcPr>
                </a:tc>
                <a:tc>
                  <a:txBody>
                    <a:bodyPr/>
                    <a:lstStyle/>
                    <a:p>
                      <a:pPr algn="ctr"/>
                      <a:r>
                        <a:rPr sz="1500" b="0">
                          <a:solidFill>
                            <a:srgbClr val="22303F"/>
                          </a:solidFill>
                          <a:latin typeface="Calibri"/>
                        </a:rPr>
                        <a:t>Primary Key / Foreign Key</a:t>
                      </a:r>
                    </a:p>
                  </a:txBody>
                  <a:tcPr anchor="ctr">
                    <a:solidFill>
                      <a:srgbClr val="E3E8D6"/>
                    </a:solidFill>
                  </a:tcPr>
                </a:tc>
              </a:tr>
              <a:tr h="381000">
                <a:tc>
                  <a:txBody>
                    <a:bodyPr/>
                    <a:lstStyle/>
                    <a:p>
                      <a:pPr algn="ctr"/>
                      <a:r>
                        <a:rPr sz="1500" b="0">
                          <a:solidFill>
                            <a:srgbClr val="22303F"/>
                          </a:solidFill>
                          <a:latin typeface="Calibri"/>
                        </a:rPr>
                        <a:t>Occupancy and revenue reports</a:t>
                      </a:r>
                    </a:p>
                  </a:txBody>
                  <a:tcPr anchor="ctr">
                    <a:solidFill>
                      <a:srgbClr val="FFFFFF"/>
                    </a:solidFill>
                  </a:tcPr>
                </a:tc>
                <a:tc>
                  <a:txBody>
                    <a:bodyPr/>
                    <a:lstStyle/>
                    <a:p>
                      <a:pPr algn="ctr"/>
                      <a:r>
                        <a:rPr sz="1500" b="0">
                          <a:solidFill>
                            <a:srgbClr val="22303F"/>
                          </a:solidFill>
                          <a:latin typeface="Calibri"/>
                        </a:rPr>
                        <a:t>COUNT / SUM / GROUP BY / HAVING</a:t>
                      </a:r>
                    </a:p>
                  </a:txBody>
                  <a:tcPr anchor="ctr">
                    <a:solidFill>
                      <a:srgbClr val="FFFFFF"/>
                    </a:solidFill>
                  </a:tcPr>
                </a:tc>
              </a:tr>
              <a:tr h="381000">
                <a:tc>
                  <a:txBody>
                    <a:bodyPr/>
                    <a:lstStyle/>
                    <a:p>
                      <a:pPr algn="ctr"/>
                      <a:r>
                        <a:rPr sz="1500" b="0">
                          <a:solidFill>
                            <a:srgbClr val="22303F"/>
                          </a:solidFill>
                          <a:latin typeface="Calibri"/>
                        </a:rPr>
                        <a:t>Room status consistency</a:t>
                      </a:r>
                    </a:p>
                  </a:txBody>
                  <a:tcPr anchor="ctr">
                    <a:solidFill>
                      <a:srgbClr val="E3E8D6"/>
                    </a:solidFill>
                  </a:tcPr>
                </a:tc>
                <a:tc>
                  <a:txBody>
                    <a:bodyPr/>
                    <a:lstStyle/>
                    <a:p>
                      <a:pPr algn="ctr"/>
                      <a:r>
                        <a:rPr sz="1500" b="0">
                          <a:solidFill>
                            <a:srgbClr val="22303F"/>
                          </a:solidFill>
                          <a:latin typeface="Calibri"/>
                        </a:rPr>
                        <a:t>Triggers + stored procedure</a:t>
                      </a:r>
                    </a:p>
                  </a:txBody>
                  <a:tcPr anchor="ctr">
                    <a:solidFill>
                      <a:srgbClr val="E3E8D6"/>
                    </a:solidFill>
                  </a:tcPr>
                </a:tc>
              </a:tr>
              <a:tr h="381000">
                <a:tc>
                  <a:txBody>
                    <a:bodyPr/>
                    <a:lstStyle/>
                    <a:p>
                      <a:pPr algn="ctr"/>
                      <a:r>
                        <a:rPr sz="1500" b="0">
                          <a:solidFill>
                            <a:srgbClr val="22303F"/>
                          </a:solidFill>
                          <a:latin typeface="Calibri"/>
                        </a:rPr>
                        <a:t>Bill generation</a:t>
                      </a:r>
                    </a:p>
                  </a:txBody>
                  <a:tcPr anchor="ctr">
                    <a:solidFill>
                      <a:srgbClr val="FFFFFF"/>
                    </a:solidFill>
                  </a:tcPr>
                </a:tc>
                <a:tc>
                  <a:txBody>
                    <a:bodyPr/>
                    <a:lstStyle/>
                    <a:p>
                      <a:pPr algn="ctr"/>
                      <a:r>
                        <a:rPr sz="1500" b="0">
                          <a:solidFill>
                            <a:srgbClr val="22303F"/>
                          </a:solidFill>
                          <a:latin typeface="Calibri"/>
                        </a:rPr>
                        <a:t>Stored procedure / View</a:t>
                      </a:r>
                    </a:p>
                  </a:txBody>
                  <a:tcPr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Work Completed &amp; Output</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Three layers, all working end to end</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10</a:t>
            </a:r>
          </a:p>
        </p:txBody>
      </p:sp>
      <p:sp>
        <p:nvSpPr>
          <p:cNvPr id="8" name="Rounded Rectangle 7"/>
          <p:cNvSpPr/>
          <p:nvPr/>
        </p:nvSpPr>
        <p:spPr>
          <a:xfrm>
            <a:off x="548640" y="1600200"/>
            <a:ext cx="3017520" cy="1417320"/>
          </a:xfrm>
          <a:prstGeom prst="roundRect">
            <a:avLst>
              <a:gd name="adj" fmla="val 6000"/>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600200"/>
            <a:ext cx="2834640" cy="141732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FRONT END   app.py</a:t>
            </a:r>
          </a:p>
        </p:txBody>
      </p:sp>
      <p:sp>
        <p:nvSpPr>
          <p:cNvPr id="10" name="Rounded Rectangle 9"/>
          <p:cNvSpPr/>
          <p:nvPr/>
        </p:nvSpPr>
        <p:spPr>
          <a:xfrm>
            <a:off x="3657600" y="1600200"/>
            <a:ext cx="4023360" cy="1417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49039" y="1600200"/>
            <a:ext cx="3840480" cy="1417320"/>
          </a:xfrm>
          <a:prstGeom prst="rect">
            <a:avLst/>
          </a:prstGeom>
          <a:noFill/>
        </p:spPr>
        <p:txBody>
          <a:bodyPr wrap="square" anchor="ctr" lIns="45720" rIns="45720" tIns="27432" bIns="27432">
            <a:spAutoFit/>
          </a:bodyPr>
          <a:lstStyle/>
          <a:p>
            <a:pPr algn="l">
              <a:lnSpc>
                <a:spcPct val="100000"/>
              </a:lnSpc>
              <a:spcAft>
                <a:spcPts val="600"/>
              </a:spcAft>
            </a:pPr>
            <a:r>
              <a:rPr sz="1400" b="0">
                <a:solidFill>
                  <a:srgbClr val="22303F"/>
                </a:solidFill>
                <a:latin typeface="Calibri"/>
              </a:rPr>
              <a:t>Tkinter GUI: login + 7 tabs. Validates input, shows results. Contains no SQL.</a:t>
            </a:r>
          </a:p>
        </p:txBody>
      </p:sp>
      <p:sp>
        <p:nvSpPr>
          <p:cNvPr id="12" name="Rounded Rectangle 11"/>
          <p:cNvSpPr/>
          <p:nvPr/>
        </p:nvSpPr>
        <p:spPr>
          <a:xfrm>
            <a:off x="548640" y="3246120"/>
            <a:ext cx="3017520" cy="1417320"/>
          </a:xfrm>
          <a:prstGeom prst="roundRect">
            <a:avLst>
              <a:gd name="adj" fmla="val 6000"/>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246120"/>
            <a:ext cx="2834640" cy="141732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BACK END   database.py</a:t>
            </a:r>
          </a:p>
        </p:txBody>
      </p:sp>
      <p:sp>
        <p:nvSpPr>
          <p:cNvPr id="14" name="Rounded Rectangle 13"/>
          <p:cNvSpPr/>
          <p:nvPr/>
        </p:nvSpPr>
        <p:spPr>
          <a:xfrm>
            <a:off x="3657600" y="3246120"/>
            <a:ext cx="4023360" cy="1417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49039" y="3246120"/>
            <a:ext cx="3840480" cy="1417320"/>
          </a:xfrm>
          <a:prstGeom prst="rect">
            <a:avLst/>
          </a:prstGeom>
          <a:noFill/>
        </p:spPr>
        <p:txBody>
          <a:bodyPr wrap="square" anchor="ctr" lIns="45720" rIns="45720" tIns="27432" bIns="27432">
            <a:spAutoFit/>
          </a:bodyPr>
          <a:lstStyle/>
          <a:p>
            <a:pPr algn="l">
              <a:lnSpc>
                <a:spcPct val="100000"/>
              </a:lnSpc>
              <a:spcAft>
                <a:spcPts val="600"/>
              </a:spcAft>
            </a:pPr>
            <a:r>
              <a:rPr sz="1400" b="0">
                <a:solidFill>
                  <a:srgbClr val="22303F"/>
                </a:solidFill>
                <a:latin typeface="Calibri"/>
              </a:rPr>
              <a:t>Data-access layer: every SQL statement, parameterised with %s placeholders; hashes passwords.</a:t>
            </a:r>
          </a:p>
        </p:txBody>
      </p:sp>
      <p:sp>
        <p:nvSpPr>
          <p:cNvPr id="16" name="Rounded Rectangle 15"/>
          <p:cNvSpPr/>
          <p:nvPr/>
        </p:nvSpPr>
        <p:spPr>
          <a:xfrm>
            <a:off x="548640" y="4892040"/>
            <a:ext cx="3017520" cy="1417320"/>
          </a:xfrm>
          <a:prstGeom prst="roundRect">
            <a:avLst>
              <a:gd name="adj" fmla="val 6000"/>
            </a:avLst>
          </a:prstGeom>
          <a:solidFill>
            <a:srgbClr val="3B5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892040"/>
            <a:ext cx="2834640" cy="141732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DATABASE   MySQL hotel_db</a:t>
            </a:r>
          </a:p>
        </p:txBody>
      </p:sp>
      <p:sp>
        <p:nvSpPr>
          <p:cNvPr id="18" name="Rounded Rectangle 17"/>
          <p:cNvSpPr/>
          <p:nvPr/>
        </p:nvSpPr>
        <p:spPr>
          <a:xfrm>
            <a:off x="3657600" y="4892040"/>
            <a:ext cx="4023360" cy="1417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749039" y="4892040"/>
            <a:ext cx="3840480" cy="1417320"/>
          </a:xfrm>
          <a:prstGeom prst="rect">
            <a:avLst/>
          </a:prstGeom>
          <a:noFill/>
        </p:spPr>
        <p:txBody>
          <a:bodyPr wrap="square" anchor="ctr" lIns="45720" rIns="45720" tIns="27432" bIns="27432">
            <a:spAutoFit/>
          </a:bodyPr>
          <a:lstStyle/>
          <a:p>
            <a:pPr algn="l">
              <a:lnSpc>
                <a:spcPct val="100000"/>
              </a:lnSpc>
              <a:spcAft>
                <a:spcPts val="600"/>
              </a:spcAft>
            </a:pPr>
            <a:r>
              <a:rPr sz="1400" b="0">
                <a:solidFill>
                  <a:srgbClr val="22303F"/>
                </a:solidFill>
                <a:latin typeface="Calibri"/>
              </a:rPr>
              <a:t>6 tables, 4 foreign keys, 3 views, 4 triggers, 2 stored procedures, 4 indexes.</a:t>
            </a:r>
          </a:p>
        </p:txBody>
      </p:sp>
      <p:sp>
        <p:nvSpPr>
          <p:cNvPr id="20" name="Rounded Rectangle 19"/>
          <p:cNvSpPr/>
          <p:nvPr/>
        </p:nvSpPr>
        <p:spPr>
          <a:xfrm>
            <a:off x="7955279" y="1600200"/>
            <a:ext cx="3703320" cy="470916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138160" y="1691640"/>
            <a:ext cx="3383280" cy="4572000"/>
          </a:xfrm>
          <a:prstGeom prst="rect">
            <a:avLst/>
          </a:prstGeom>
          <a:noFill/>
        </p:spPr>
        <p:txBody>
          <a:bodyPr wrap="square" anchor="t" lIns="45720" rIns="45720" tIns="27432" bIns="27432">
            <a:spAutoFit/>
          </a:bodyPr>
          <a:lstStyle/>
          <a:p>
            <a:pPr algn="l">
              <a:lnSpc>
                <a:spcPct val="100000"/>
              </a:lnSpc>
              <a:spcAft>
                <a:spcPts val="600"/>
              </a:spcAft>
            </a:pPr>
            <a:r>
              <a:rPr sz="1700" b="1">
                <a:solidFill>
                  <a:srgbClr val="334F43"/>
                </a:solidFill>
                <a:latin typeface="Calibri"/>
              </a:rPr>
              <a:t>Completed</a:t>
            </a:r>
          </a:p>
          <a:p>
            <a:pPr algn="l" marL="201168" indent="-201168">
              <a:lnSpc>
                <a:spcPct val="100000"/>
              </a:lnSpc>
              <a:spcAft>
                <a:spcPts val="600"/>
              </a:spcAft>
              <a:buChar char="✓"/>
            </a:pPr>
            <a:r>
              <a:rPr sz="1400" b="0">
                <a:solidFill>
                  <a:srgbClr val="22303F"/>
                </a:solidFill>
                <a:latin typeface="Calibri"/>
              </a:rPr>
              <a:t>Login with SHA-256 hashed passwords</a:t>
            </a:r>
          </a:p>
          <a:p>
            <a:pPr algn="l" marL="201168" indent="-201168">
              <a:lnSpc>
                <a:spcPct val="100000"/>
              </a:lnSpc>
              <a:spcAft>
                <a:spcPts val="600"/>
              </a:spcAft>
              <a:buChar char="✓"/>
            </a:pPr>
            <a:r>
              <a:rPr sz="1400" b="0">
                <a:solidFill>
                  <a:srgbClr val="22303F"/>
                </a:solidFill>
                <a:latin typeface="Calibri"/>
              </a:rPr>
              <a:t>Full CRUD on Room Types, Rooms, Guests, Bookings, Payments</a:t>
            </a:r>
          </a:p>
          <a:p>
            <a:pPr algn="l" marL="201168" indent="-201168">
              <a:lnSpc>
                <a:spcPct val="100000"/>
              </a:lnSpc>
              <a:spcAft>
                <a:spcPts val="600"/>
              </a:spcAft>
              <a:buChar char="✓"/>
            </a:pPr>
            <a:r>
              <a:rPr sz="1400" b="0">
                <a:solidFill>
                  <a:srgbClr val="22303F"/>
                </a:solidFill>
                <a:latin typeface="Calibri"/>
              </a:rPr>
              <a:t>Live search on guests and bookings</a:t>
            </a:r>
          </a:p>
          <a:p>
            <a:pPr algn="l" marL="201168" indent="-201168">
              <a:lnSpc>
                <a:spcPct val="100000"/>
              </a:lnSpc>
              <a:spcAft>
                <a:spcPts val="600"/>
              </a:spcAft>
              <a:buChar char="✓"/>
            </a:pPr>
            <a:r>
              <a:rPr sz="1400" b="0">
                <a:solidFill>
                  <a:srgbClr val="22303F"/>
                </a:solidFill>
                <a:latin typeface="Calibri"/>
              </a:rPr>
              <a:t>Double booking blocked by overlap check</a:t>
            </a:r>
          </a:p>
          <a:p>
            <a:pPr algn="l" marL="201168" indent="-201168">
              <a:lnSpc>
                <a:spcPct val="100000"/>
              </a:lnSpc>
              <a:spcAft>
                <a:spcPts val="600"/>
              </a:spcAft>
              <a:buChar char="✓"/>
            </a:pPr>
            <a:r>
              <a:rPr sz="1400" b="0">
                <a:solidFill>
                  <a:srgbClr val="22303F"/>
                </a:solidFill>
                <a:latin typeface="Calibri"/>
              </a:rPr>
              <a:t>Automatic bill: nights × price</a:t>
            </a:r>
          </a:p>
          <a:p>
            <a:pPr algn="l" marL="201168" indent="-201168">
              <a:lnSpc>
                <a:spcPct val="100000"/>
              </a:lnSpc>
              <a:spcAft>
                <a:spcPts val="600"/>
              </a:spcAft>
              <a:buChar char="✓"/>
            </a:pPr>
            <a:r>
              <a:rPr sz="1400" b="0">
                <a:solidFill>
                  <a:srgbClr val="22303F"/>
                </a:solidFill>
                <a:latin typeface="Calibri"/>
              </a:rPr>
              <a:t>Room status maintained by triggers</a:t>
            </a:r>
          </a:p>
          <a:p>
            <a:pPr algn="l" marL="201168" indent="-201168">
              <a:lnSpc>
                <a:spcPct val="100000"/>
              </a:lnSpc>
              <a:spcAft>
                <a:spcPts val="600"/>
              </a:spcAft>
              <a:buChar char="✓"/>
            </a:pPr>
            <a:r>
              <a:rPr sz="1400" b="0">
                <a:solidFill>
                  <a:srgbClr val="22303F"/>
                </a:solidFill>
                <a:latin typeface="Calibri"/>
              </a:rPr>
              <a:t>Dashboard with live aggregate cards</a:t>
            </a:r>
          </a:p>
          <a:p>
            <a:pPr algn="l" marL="201168" indent="-201168">
              <a:lnSpc>
                <a:spcPct val="100000"/>
              </a:lnSpc>
              <a:spcAft>
                <a:spcPts val="600"/>
              </a:spcAft>
              <a:buChar char="✓"/>
            </a:pPr>
            <a:r>
              <a:rPr sz="1400" b="0">
                <a:solidFill>
                  <a:srgbClr val="22303F"/>
                </a:solidFill>
                <a:latin typeface="Calibri"/>
              </a:rPr>
              <a:t>4 reports with GROUP BY / HAVING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Output – Dashboard</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Six live aggregate queries (COUNT, SUM) on the home screen</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11</a:t>
            </a:r>
          </a:p>
        </p:txBody>
      </p:sp>
      <p:sp>
        <p:nvSpPr>
          <p:cNvPr id="8" name="Rectangle 7"/>
          <p:cNvSpPr/>
          <p:nvPr/>
        </p:nvSpPr>
        <p:spPr>
          <a:xfrm>
            <a:off x="493776" y="1499616"/>
            <a:ext cx="11173967" cy="4797965"/>
          </a:xfrm>
          <a:prstGeom prst="rect">
            <a:avLst/>
          </a:prstGeom>
          <a:solidFill>
            <a:srgbClr val="FFFFFF"/>
          </a:solidFill>
          <a:ln w="12700">
            <a:solidFill>
              <a:srgbClr val="A3B1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02_dashboard.png"/>
          <p:cNvPicPr>
            <a:picLocks noChangeAspect="1"/>
          </p:cNvPicPr>
          <p:nvPr/>
        </p:nvPicPr>
        <p:blipFill>
          <a:blip r:embed="rId2"/>
          <a:stretch>
            <a:fillRect/>
          </a:stretch>
        </p:blipFill>
        <p:spPr>
          <a:xfrm>
            <a:off x="548640" y="1554480"/>
            <a:ext cx="11064240" cy="468823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Output – Bookings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4-table join with computed nights and amount; Book / Check-In / Check-Out / Cancel buttons</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12</a:t>
            </a:r>
          </a:p>
        </p:txBody>
      </p:sp>
      <p:sp>
        <p:nvSpPr>
          <p:cNvPr id="8" name="Rectangle 7"/>
          <p:cNvSpPr/>
          <p:nvPr/>
        </p:nvSpPr>
        <p:spPr>
          <a:xfrm>
            <a:off x="779421" y="1499616"/>
            <a:ext cx="10602677" cy="4956048"/>
          </a:xfrm>
          <a:prstGeom prst="rect">
            <a:avLst/>
          </a:prstGeom>
          <a:solidFill>
            <a:srgbClr val="FFFFFF"/>
          </a:solidFill>
          <a:ln w="12700">
            <a:solidFill>
              <a:srgbClr val="A3B1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06_bookings.png"/>
          <p:cNvPicPr>
            <a:picLocks noChangeAspect="1"/>
          </p:cNvPicPr>
          <p:nvPr/>
        </p:nvPicPr>
        <p:blipFill>
          <a:blip r:embed="rId2"/>
          <a:stretch>
            <a:fillRect/>
          </a:stretch>
        </p:blipFill>
        <p:spPr>
          <a:xfrm>
            <a:off x="834285" y="1554480"/>
            <a:ext cx="10492949"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Output – Payments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Auto-Calculate Bill fills the amount from a JOIN (nights × price per night)</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13</a:t>
            </a:r>
          </a:p>
        </p:txBody>
      </p:sp>
      <p:sp>
        <p:nvSpPr>
          <p:cNvPr id="8" name="Rectangle 7"/>
          <p:cNvSpPr/>
          <p:nvPr/>
        </p:nvSpPr>
        <p:spPr>
          <a:xfrm>
            <a:off x="779421" y="1499616"/>
            <a:ext cx="10602677" cy="4956048"/>
          </a:xfrm>
          <a:prstGeom prst="rect">
            <a:avLst/>
          </a:prstGeom>
          <a:solidFill>
            <a:srgbClr val="FFFFFF"/>
          </a:solidFill>
          <a:ln w="12700">
            <a:solidFill>
              <a:srgbClr val="A3B1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11_payment_added.png"/>
          <p:cNvPicPr>
            <a:picLocks noChangeAspect="1"/>
          </p:cNvPicPr>
          <p:nvPr/>
        </p:nvPicPr>
        <p:blipFill>
          <a:blip r:embed="rId2"/>
          <a:stretch>
            <a:fillRect/>
          </a:stretch>
        </p:blipFill>
        <p:spPr>
          <a:xfrm>
            <a:off x="834285" y="1554480"/>
            <a:ext cx="10492949"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Output – Reports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097280"/>
            <a:ext cx="11064240" cy="365760"/>
          </a:xfrm>
          <a:prstGeom prst="rect">
            <a:avLst/>
          </a:prstGeom>
          <a:noFill/>
        </p:spPr>
        <p:txBody>
          <a:bodyPr wrap="square" anchor="t" lIns="45720" rIns="45720" tIns="27432" bIns="27432">
            <a:spAutoFit/>
          </a:bodyPr>
          <a:lstStyle/>
          <a:p>
            <a:pPr algn="l">
              <a:lnSpc>
                <a:spcPct val="100000"/>
              </a:lnSpc>
              <a:spcAft>
                <a:spcPts val="600"/>
              </a:spcAft>
            </a:pPr>
            <a:r>
              <a:rPr sz="1500" b="0">
                <a:solidFill>
                  <a:srgbClr val="6B7C8F"/>
                </a:solidFill>
                <a:latin typeface="Calibri"/>
              </a:rPr>
              <a:t>Revenue by payment method – aggregate functions with GROUP BY</a:t>
            </a:r>
          </a:p>
        </p:txBody>
      </p:sp>
      <p:sp>
        <p:nvSpPr>
          <p:cNvPr id="6" name="TextBox 5"/>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7" name="TextBox 6"/>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14</a:t>
            </a:r>
          </a:p>
        </p:txBody>
      </p:sp>
      <p:sp>
        <p:nvSpPr>
          <p:cNvPr id="8" name="Rectangle 7"/>
          <p:cNvSpPr/>
          <p:nvPr/>
        </p:nvSpPr>
        <p:spPr>
          <a:xfrm>
            <a:off x="493776" y="1499616"/>
            <a:ext cx="11173967" cy="3203964"/>
          </a:xfrm>
          <a:prstGeom prst="rect">
            <a:avLst/>
          </a:prstGeom>
          <a:solidFill>
            <a:srgbClr val="FFFFFF"/>
          </a:solidFill>
          <a:ln w="12700">
            <a:solidFill>
              <a:srgbClr val="A3B1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08_reports.png"/>
          <p:cNvPicPr>
            <a:picLocks noChangeAspect="1"/>
          </p:cNvPicPr>
          <p:nvPr/>
        </p:nvPicPr>
        <p:blipFill>
          <a:blip r:embed="rId2"/>
          <a:stretch>
            <a:fillRect/>
          </a:stretch>
        </p:blipFill>
        <p:spPr>
          <a:xfrm>
            <a:off x="548640" y="1554480"/>
            <a:ext cx="11064240" cy="30942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8"/>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292608"/>
            <a:ext cx="11064240" cy="731520"/>
          </a:xfrm>
          <a:prstGeom prst="rect">
            <a:avLst/>
          </a:prstGeom>
          <a:noFill/>
        </p:spPr>
        <p:txBody>
          <a:bodyPr wrap="square" anchor="ctr" lIns="45720" rIns="45720" tIns="27432" bIns="27432">
            <a:spAutoFit/>
          </a:bodyPr>
          <a:lstStyle/>
          <a:p>
            <a:pPr algn="l">
              <a:lnSpc>
                <a:spcPct val="100000"/>
              </a:lnSpc>
              <a:spcAft>
                <a:spcPts val="600"/>
              </a:spcAft>
            </a:pPr>
            <a:r>
              <a:rPr sz="3200" b="1">
                <a:solidFill>
                  <a:srgbClr val="334F43"/>
                </a:solidFill>
                <a:latin typeface="Georgia"/>
              </a:rPr>
              <a:t>Conclusion &amp; Future Enhancements</a:t>
            </a:r>
          </a:p>
        </p:txBody>
      </p:sp>
      <p:sp>
        <p:nvSpPr>
          <p:cNvPr id="4" name="Rectangle 3"/>
          <p:cNvSpPr/>
          <p:nvPr/>
        </p:nvSpPr>
        <p:spPr>
          <a:xfrm>
            <a:off x="594360" y="1024128"/>
            <a:ext cx="1280160"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lnSpc>
                <a:spcPct val="100000"/>
              </a:lnSpc>
              <a:spcAft>
                <a:spcPts val="600"/>
              </a:spcAft>
            </a:pPr>
            <a:r>
              <a:rPr sz="1100" b="0">
                <a:solidFill>
                  <a:srgbClr val="6B7C8F"/>
                </a:solidFill>
                <a:latin typeface="Calibri"/>
              </a:rPr>
              <a:t>Team 03  ·  22AIE303 Database Management Systems  ·  Hotel Management System</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lnSpc>
                <a:spcPct val="100000"/>
              </a:lnSpc>
              <a:spcAft>
                <a:spcPts val="600"/>
              </a:spcAft>
            </a:pPr>
            <a:r>
              <a:rPr sz="1100" b="0">
                <a:solidFill>
                  <a:srgbClr val="6B7C8F"/>
                </a:solidFill>
                <a:latin typeface="Calibri"/>
              </a:rPr>
              <a:t>15</a:t>
            </a:r>
          </a:p>
        </p:txBody>
      </p:sp>
      <p:sp>
        <p:nvSpPr>
          <p:cNvPr id="7" name="Rounded Rectangle 6"/>
          <p:cNvSpPr/>
          <p:nvPr/>
        </p:nvSpPr>
        <p:spPr>
          <a:xfrm>
            <a:off x="548640" y="1463040"/>
            <a:ext cx="5486400" cy="4846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463040"/>
            <a:ext cx="5486400" cy="502920"/>
          </a:xfrm>
          <a:prstGeom prst="rect">
            <a:avLst/>
          </a:prstGeom>
          <a:solidFill>
            <a:srgbClr val="334F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481328"/>
            <a:ext cx="5120640" cy="45720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CONCLUSION</a:t>
            </a:r>
          </a:p>
        </p:txBody>
      </p:sp>
      <p:sp>
        <p:nvSpPr>
          <p:cNvPr id="10" name="TextBox 9"/>
          <p:cNvSpPr txBox="1"/>
          <p:nvPr/>
        </p:nvSpPr>
        <p:spPr>
          <a:xfrm>
            <a:off x="731520" y="2103120"/>
            <a:ext cx="5166360" cy="4114800"/>
          </a:xfrm>
          <a:prstGeom prst="rect">
            <a:avLst/>
          </a:prstGeom>
          <a:noFill/>
        </p:spPr>
        <p:txBody>
          <a:bodyPr wrap="square" anchor="t" lIns="45720" rIns="45720" tIns="27432" bIns="27432">
            <a:spAutoFit/>
          </a:bodyPr>
          <a:lstStyle/>
          <a:p>
            <a:pPr algn="l" marL="201168" indent="-201168">
              <a:lnSpc>
                <a:spcPct val="100000"/>
              </a:lnSpc>
              <a:spcAft>
                <a:spcPts val="1000"/>
              </a:spcAft>
              <a:buChar char="•"/>
            </a:pPr>
            <a:r>
              <a:rPr sz="1600" b="0">
                <a:solidFill>
                  <a:srgbClr val="22303F"/>
                </a:solidFill>
                <a:latin typeface="Calibri"/>
              </a:rPr>
              <a:t>A working GUI → data-access layer → MySQL pipeline replaces the paper registers.</a:t>
            </a:r>
          </a:p>
          <a:p>
            <a:pPr algn="l" marL="201168" indent="-201168">
              <a:lnSpc>
                <a:spcPct val="100000"/>
              </a:lnSpc>
              <a:spcAft>
                <a:spcPts val="1000"/>
              </a:spcAft>
              <a:buChar char="•"/>
            </a:pPr>
            <a:r>
              <a:rPr sz="1600" b="0">
                <a:solidFill>
                  <a:srgbClr val="22303F"/>
                </a:solidFill>
                <a:latin typeface="Calibri"/>
              </a:rPr>
              <a:t>Integrity is enforced by the database: PK, FK, UNIQUE, CHECK, ENUM and triggers.</a:t>
            </a:r>
          </a:p>
          <a:p>
            <a:pPr algn="l" marL="201168" indent="-201168">
              <a:lnSpc>
                <a:spcPct val="100000"/>
              </a:lnSpc>
              <a:spcAft>
                <a:spcPts val="1000"/>
              </a:spcAft>
              <a:buChar char="•"/>
            </a:pPr>
            <a:r>
              <a:rPr sz="1600" b="0">
                <a:solidFill>
                  <a:srgbClr val="22303F"/>
                </a:solidFill>
                <a:latin typeface="Calibri"/>
              </a:rPr>
              <a:t>All six relations are in 3NF and BCNF; derived values are never stored.</a:t>
            </a:r>
          </a:p>
          <a:p>
            <a:pPr algn="l" marL="201168" indent="-201168">
              <a:lnSpc>
                <a:spcPct val="100000"/>
              </a:lnSpc>
              <a:spcAft>
                <a:spcPts val="1000"/>
              </a:spcAft>
              <a:buChar char="•"/>
            </a:pPr>
            <a:r>
              <a:rPr sz="1600" b="0">
                <a:solidFill>
                  <a:srgbClr val="22303F"/>
                </a:solidFill>
                <a:latin typeface="Calibri"/>
              </a:rPr>
              <a:t>Billing, availability and reports are computed by SQL – joins, subqueries, GROUP BY / HAVING, views, procedures.</a:t>
            </a:r>
          </a:p>
        </p:txBody>
      </p:sp>
      <p:sp>
        <p:nvSpPr>
          <p:cNvPr id="11" name="Rounded Rectangle 10"/>
          <p:cNvSpPr/>
          <p:nvPr/>
        </p:nvSpPr>
        <p:spPr>
          <a:xfrm>
            <a:off x="6309360" y="1463040"/>
            <a:ext cx="5349240" cy="4846320"/>
          </a:xfrm>
          <a:prstGeom prst="roundRect">
            <a:avLst>
              <a:gd name="adj" fmla="val 6000"/>
            </a:avLst>
          </a:prstGeom>
          <a:solidFill>
            <a:srgbClr val="FFFFFF"/>
          </a:solidFill>
          <a:ln w="12700">
            <a:solidFill>
              <a:srgbClr val="E3E8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309360" y="1463040"/>
            <a:ext cx="5349240" cy="5029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1481328"/>
            <a:ext cx="4937760" cy="457200"/>
          </a:xfrm>
          <a:prstGeom prst="rect">
            <a:avLst/>
          </a:prstGeom>
          <a:noFill/>
        </p:spPr>
        <p:txBody>
          <a:bodyPr wrap="square" anchor="ctr" lIns="45720" rIns="45720" tIns="27432" bIns="27432">
            <a:spAutoFit/>
          </a:bodyPr>
          <a:lstStyle/>
          <a:p>
            <a:pPr algn="l">
              <a:lnSpc>
                <a:spcPct val="100000"/>
              </a:lnSpc>
              <a:spcAft>
                <a:spcPts val="600"/>
              </a:spcAft>
            </a:pPr>
            <a:r>
              <a:rPr sz="1600" b="1">
                <a:solidFill>
                  <a:srgbClr val="FFFFFF"/>
                </a:solidFill>
                <a:latin typeface="Calibri"/>
              </a:rPr>
              <a:t>FUTURE ENHANCEMENTS</a:t>
            </a:r>
          </a:p>
        </p:txBody>
      </p:sp>
      <p:sp>
        <p:nvSpPr>
          <p:cNvPr id="14" name="TextBox 13"/>
          <p:cNvSpPr txBox="1"/>
          <p:nvPr/>
        </p:nvSpPr>
        <p:spPr>
          <a:xfrm>
            <a:off x="6492240" y="2103120"/>
            <a:ext cx="5029200" cy="4114800"/>
          </a:xfrm>
          <a:prstGeom prst="rect">
            <a:avLst/>
          </a:prstGeom>
          <a:noFill/>
        </p:spPr>
        <p:txBody>
          <a:bodyPr wrap="square" anchor="t" lIns="45720" rIns="45720" tIns="27432" bIns="27432">
            <a:spAutoFit/>
          </a:bodyPr>
          <a:lstStyle/>
          <a:p>
            <a:pPr algn="l" marL="201168" indent="-201168">
              <a:lnSpc>
                <a:spcPct val="100000"/>
              </a:lnSpc>
              <a:spcAft>
                <a:spcPts val="900"/>
              </a:spcAft>
              <a:buChar char="•"/>
            </a:pPr>
            <a:r>
              <a:rPr sz="1500" b="0">
                <a:solidFill>
                  <a:srgbClr val="22303F"/>
                </a:solidFill>
                <a:latin typeface="Calibri"/>
              </a:rPr>
              <a:t>Role-based access: lock Admin-only tabs for Receptionists, backed by MySQL GRANT.</a:t>
            </a:r>
          </a:p>
          <a:p>
            <a:pPr algn="l" marL="201168" indent="-201168">
              <a:lnSpc>
                <a:spcPct val="100000"/>
              </a:lnSpc>
              <a:spcAft>
                <a:spcPts val="900"/>
              </a:spcAft>
              <a:buChar char="•"/>
            </a:pPr>
            <a:r>
              <a:rPr sz="1500" b="0">
                <a:solidFill>
                  <a:srgbClr val="22303F"/>
                </a:solidFill>
                <a:latin typeface="Calibri"/>
              </a:rPr>
              <a:t>Staff-accounts screen (add_user already exists in the back end).</a:t>
            </a:r>
          </a:p>
          <a:p>
            <a:pPr algn="l" marL="201168" indent="-201168">
              <a:lnSpc>
                <a:spcPct val="100000"/>
              </a:lnSpc>
              <a:spcAft>
                <a:spcPts val="900"/>
              </a:spcAft>
              <a:buChar char="•"/>
            </a:pPr>
            <a:r>
              <a:rPr sz="1500" b="0">
                <a:solidFill>
                  <a:srgbClr val="22303F"/>
                </a:solidFill>
                <a:latin typeface="Calibri"/>
              </a:rPr>
              <a:t>Booking + payment inside one COMMIT / ROLLBACK transaction in the app.</a:t>
            </a:r>
          </a:p>
          <a:p>
            <a:pPr algn="l" marL="201168" indent="-201168">
              <a:lnSpc>
                <a:spcPct val="100000"/>
              </a:lnSpc>
              <a:spcAft>
                <a:spcPts val="900"/>
              </a:spcAft>
              <a:buChar char="•"/>
            </a:pPr>
            <a:r>
              <a:rPr sz="1500" b="0">
                <a:solidFill>
                  <a:srgbClr val="22303F"/>
                </a:solidFill>
                <a:latin typeface="Calibri"/>
              </a:rPr>
              <a:t>Move the overlap check into a database trigger.</a:t>
            </a:r>
          </a:p>
          <a:p>
            <a:pPr algn="l" marL="201168" indent="-201168">
              <a:lnSpc>
                <a:spcPct val="100000"/>
              </a:lnSpc>
              <a:spcAft>
                <a:spcPts val="900"/>
              </a:spcAft>
              <a:buChar char="•"/>
            </a:pPr>
            <a:r>
              <a:rPr sz="1500" b="0">
                <a:solidFill>
                  <a:srgbClr val="22303F"/>
                </a:solidFill>
                <a:latin typeface="Calibri"/>
              </a:rPr>
              <a:t>PDF invoice export per booking.</a:t>
            </a:r>
          </a:p>
          <a:p>
            <a:pPr algn="l" marL="201168" indent="-201168">
              <a:lnSpc>
                <a:spcPct val="100000"/>
              </a:lnSpc>
              <a:spcAft>
                <a:spcPts val="900"/>
              </a:spcAft>
              <a:buChar char="•"/>
            </a:pPr>
            <a:r>
              <a:rPr sz="1500" b="0">
                <a:solidFill>
                  <a:srgbClr val="22303F"/>
                </a:solidFill>
                <a:latin typeface="Calibri"/>
              </a:rPr>
              <a:t>Analytics: monthly occupancy and revenue charts; web front end for multi-user access.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334F43"/>
        </a:solidFill>
        <a:effectLst/>
      </p:bgPr>
    </p:bg>
    <p:spTree>
      <p:nvGrpSpPr>
        <p:cNvPr id="1" name=""/>
        <p:cNvGrpSpPr/>
        <p:nvPr/>
      </p:nvGrpSpPr>
      <p:grpSpPr/>
      <p:sp>
        <p:nvSpPr>
          <p:cNvPr id="2" name="TextBox 1"/>
          <p:cNvSpPr txBox="1"/>
          <p:nvPr/>
        </p:nvSpPr>
        <p:spPr>
          <a:xfrm>
            <a:off x="0" y="2468880"/>
            <a:ext cx="12191695" cy="1097280"/>
          </a:xfrm>
          <a:prstGeom prst="rect">
            <a:avLst/>
          </a:prstGeom>
          <a:noFill/>
        </p:spPr>
        <p:txBody>
          <a:bodyPr wrap="square" anchor="ctr" lIns="45720" rIns="45720" tIns="27432" bIns="27432">
            <a:spAutoFit/>
          </a:bodyPr>
          <a:lstStyle/>
          <a:p>
            <a:pPr algn="ctr">
              <a:lnSpc>
                <a:spcPct val="100000"/>
              </a:lnSpc>
              <a:spcAft>
                <a:spcPts val="600"/>
              </a:spcAft>
            </a:pPr>
            <a:r>
              <a:rPr sz="6000" b="1">
                <a:solidFill>
                  <a:srgbClr val="FFFFFF"/>
                </a:solidFill>
                <a:latin typeface="Georgia"/>
              </a:rPr>
              <a:t>THANK YOU</a:t>
            </a:r>
          </a:p>
        </p:txBody>
      </p:sp>
      <p:sp>
        <p:nvSpPr>
          <p:cNvPr id="3" name="Rectangle 2"/>
          <p:cNvSpPr/>
          <p:nvPr/>
        </p:nvSpPr>
        <p:spPr>
          <a:xfrm>
            <a:off x="5486400" y="3657600"/>
            <a:ext cx="1216152" cy="45720"/>
          </a:xfrm>
          <a:prstGeom prst="rect">
            <a:avLst/>
          </a:prstGeom>
          <a:solidFill>
            <a:srgbClr val="C8A1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0" y="3931920"/>
            <a:ext cx="12191695" cy="457200"/>
          </a:xfrm>
          <a:prstGeom prst="rect">
            <a:avLst/>
          </a:prstGeom>
          <a:noFill/>
        </p:spPr>
        <p:txBody>
          <a:bodyPr wrap="square" anchor="t" lIns="45720" rIns="45720" tIns="27432" bIns="27432">
            <a:spAutoFit/>
          </a:bodyPr>
          <a:lstStyle/>
          <a:p>
            <a:pPr algn="ctr">
              <a:lnSpc>
                <a:spcPct val="100000"/>
              </a:lnSpc>
              <a:spcAft>
                <a:spcPts val="600"/>
              </a:spcAft>
            </a:pPr>
            <a:r>
              <a:rPr sz="1800" b="0">
                <a:solidFill>
                  <a:srgbClr val="A3B18A"/>
                </a:solidFill>
                <a:latin typeface="Calibri"/>
              </a:rPr>
              <a:t>Team 03  ·  22AIE303 Database Management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TotalTime>
  <Words>101</Words>
  <Application>Microsoft Office PowerPoint</Application>
  <PresentationFormat>Widescreen</PresentationFormat>
  <Paragraphs>16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Times New Roman</vt:lpstr>
      <vt:lpstr>Office Theme</vt:lpstr>
      <vt:lpstr>TITLE OF PROJECT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Aswathy Sreekumar - [CEN - ASAI]</dc:creator>
  <cp:lastModifiedBy>Aswathy Sreekumar - [CEN - ASAI]</cp:lastModifiedBy>
  <cp:revision>1</cp:revision>
  <dcterms:created xsi:type="dcterms:W3CDTF">2026-08-10T14:57:35Z</dcterms:created>
  <dcterms:modified xsi:type="dcterms:W3CDTF">2026-10-13T11:09:02Z</dcterms:modified>
</cp:coreProperties>
</file>